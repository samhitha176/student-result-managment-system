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58" r:id="rId4"/>
    <p:sldId id="259" r:id="rId5"/>
    <p:sldId id="274" r:id="rId6"/>
    <p:sldId id="278" r:id="rId7"/>
    <p:sldId id="280" r:id="rId8"/>
    <p:sldId id="283" r:id="rId9"/>
    <p:sldId id="286" r:id="rId10"/>
    <p:sldId id="285" r:id="rId11"/>
    <p:sldId id="284" r:id="rId12"/>
    <p:sldId id="292" r:id="rId13"/>
    <p:sldId id="293" r:id="rId14"/>
    <p:sldId id="271" r:id="rId15"/>
    <p:sldId id="281" r:id="rId16"/>
    <p:sldId id="294" r:id="rId17"/>
    <p:sldId id="287" r:id="rId18"/>
    <p:sldId id="295" r:id="rId19"/>
    <p:sldId id="296" r:id="rId20"/>
    <p:sldId id="305" r:id="rId21"/>
    <p:sldId id="297" r:id="rId22"/>
    <p:sldId id="304" r:id="rId23"/>
    <p:sldId id="298" r:id="rId24"/>
    <p:sldId id="299" r:id="rId25"/>
    <p:sldId id="300" r:id="rId26"/>
    <p:sldId id="301" r:id="rId27"/>
    <p:sldId id="302" r:id="rId28"/>
    <p:sldId id="290" r:id="rId29"/>
    <p:sldId id="291" r:id="rId30"/>
    <p:sldId id="268" r:id="rId31"/>
    <p:sldId id="269" r:id="rId32"/>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4" autoAdjust="0"/>
    <p:restoredTop sz="94660"/>
  </p:normalViewPr>
  <p:slideViewPr>
    <p:cSldViewPr>
      <p:cViewPr varScale="1">
        <p:scale>
          <a:sx n="69" d="100"/>
          <a:sy n="69" d="100"/>
        </p:scale>
        <p:origin x="195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06-04-2026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70F2-0EF9-0550-A72E-404207C35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00AA8-577A-B5F3-39C0-0D9C6D252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2C486-2F3A-630C-86E2-8D8A883F7A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0BFAA6-56A9-3BDB-EAC1-346BC26C210F}"/>
              </a:ext>
            </a:extLst>
          </p:cNvPr>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164310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C5139-1AFF-D3A0-DDED-EC44904EB7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CAA4A-8CBD-6631-C71D-AC4F63D9D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0C2C8-43BC-835F-52A1-5BF2FAEB5E9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BC6ACFE-808B-4C46-05B5-18378E07F9DF}"/>
              </a:ext>
            </a:extLst>
          </p:cNvPr>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1098854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t>15</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t>17</a:t>
            </a:fld>
            <a:endParaRPr lang="en-IN"/>
          </a:p>
        </p:txBody>
      </p:sp>
    </p:spTree>
    <p:extLst>
      <p:ext uri="{BB962C8B-B14F-4D97-AF65-F5344CB8AC3E}">
        <p14:creationId xmlns:p14="http://schemas.microsoft.com/office/powerpoint/2010/main" val="11321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10.jpe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12.jpe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13.jpe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14.jpe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15.jpe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16.jpe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17.jpe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18.jpe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19.jpe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20.jpe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21.jpe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docs.mysql.com/javase" TargetMode="External"/><Relationship Id="rId7" Type="http://schemas.openxmlformats.org/officeDocument/2006/relationships/image" Target="../media/image2.png"/><Relationship Id="rId2" Type="http://schemas.openxmlformats.org/officeDocument/2006/relationships/hyperlink" Target="https://docs.mysql.com/" TargetMode="Externa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itextpdf..com/resources/api-documentation" TargetMode="External"/><Relationship Id="rId4" Type="http://schemas.openxmlformats.org/officeDocument/2006/relationships/hyperlink" Target="https://www.w3schools.com/java/" TargetMode="External"/><Relationship Id="rId9" Type="http://schemas.openxmlformats.org/officeDocument/2006/relationships/image" Target="../media/image6.jp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3576620"/>
          </a:xfrm>
          <a:prstGeom prst="rect">
            <a:avLst/>
          </a:prstGeom>
        </p:spPr>
        <p:txBody>
          <a:bodyPr vert="horz" wrap="square" lIns="0" tIns="16510" rIns="0" bIns="0" rtlCol="0">
            <a:spAutoFit/>
          </a:bodyPr>
          <a:lstStyle/>
          <a:p>
            <a:pPr algn="ctr">
              <a:lnSpc>
                <a:spcPct val="100000"/>
              </a:lnSpc>
              <a:spcBef>
                <a:spcPts val="130"/>
              </a:spcBef>
            </a:pPr>
            <a:r>
              <a:rPr lang="en-IN" sz="2400" dirty="0"/>
              <a:t>Student Result Management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S Leela Pavani 	     (24B11AI409)</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R Samhitha 	      (24B11DS176)</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Ch N R Satya Sri      (24B11CS069)</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P Naga Supraja 	       (24B11CS341)</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Data Science</a:t>
            </a: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5"/>
            <a:ext cx="8610600" cy="5109860"/>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Student Result Management System(SRMS) is a Java-based application designed to manage Student Result related information efficiently within an organization.</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provides functionalities such as adding, updating, searching, and viewing student records, thereby reducing manual effort and errors.</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SRMS aims to improve data accuracy, accessibility, and security by using a structured and centralized approach.</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application will be developed using core Java concepts and database connectivity for persistent data storage.</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8610600" cy="455964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 any organization, managing student results is a critical and continuous task.</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Traditional manual systems are time-consuming, error-prone, and difficult to manage as data grows.</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An automated Student Result Management System simplifies student result  data handling and improves organizational results efficiency.</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project focuses on developing a GUI-based Java application for effective student result management.</a:t>
            </a:r>
          </a:p>
          <a:p>
            <a:pPr marL="342900" indent="-342900" algn="just">
              <a:lnSpc>
                <a:spcPct val="150000"/>
              </a:lnSpc>
              <a:buFont typeface="Arial" panose="020B0604020202020204" pitchFamily="34" charset="0"/>
              <a:buChar char="•"/>
            </a:pPr>
            <a:endParaRPr lang="en-IN" sz="2000" dirty="0"/>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1322610"/>
            <a:ext cx="8534400" cy="4417363"/>
          </a:xfrm>
          <a:prstGeom prst="rect">
            <a:avLst/>
          </a:prstGeom>
          <a:noFill/>
        </p:spPr>
        <p:txBody>
          <a:bodyPr wrap="square" rtlCol="0">
            <a:spAutoFit/>
          </a:bodyPr>
          <a:lstStyle/>
          <a:p>
            <a:pPr algn="just">
              <a:spcBef>
                <a:spcPts val="1200"/>
              </a:spcBef>
            </a:pPr>
            <a:r>
              <a:rPr lang="en-US" sz="2400" b="1" dirty="0">
                <a:latin typeface="Times New Roman" panose="02020603050405020304" pitchFamily="18" charset="0"/>
                <a:cs typeface="Times New Roman" panose="02020603050405020304" pitchFamily="18" charset="0"/>
              </a:rPr>
              <a:t>Functional Requirements:</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Add, update, and delete student records.</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Manage marks entry and generate performance reports</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Provide secure login for administrators and students.</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Display notifications for important updates</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Allow students to submit and track revaluation requests.</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supports searching employees using StudentID or Name.</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34255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987471" y="1053128"/>
            <a:ext cx="8305800" cy="6633354"/>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 Linux</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Java (JDK 8 or above)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VS Code / Eclipse / IntelliJ IDEA</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Database: MySQL / SQLite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GitHub (for version control)</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4CDD3B24-C6E3-C570-0D11-D85BD4A44819}"/>
              </a:ext>
            </a:extLst>
          </p:cNvPr>
          <p:cNvSpPr txBox="1"/>
          <p:nvPr/>
        </p:nvSpPr>
        <p:spPr>
          <a:xfrm>
            <a:off x="459208" y="1025383"/>
            <a:ext cx="9475671" cy="6832640"/>
          </a:xfrm>
          <a:prstGeom prst="rect">
            <a:avLst/>
          </a:prstGeom>
          <a:noFill/>
        </p:spPr>
        <p:txBody>
          <a:bodyPr wrap="none" rtlCol="0">
            <a:spAutoFit/>
          </a:bodyPr>
          <a:lstStyle/>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system uses a relational database to store employee information efficiently.</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It consists of six main tables:</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Admin Table</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Student Table</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Marks Table</a:t>
            </a:r>
          </a:p>
          <a:p>
            <a:pPr marL="1349375" lvl="3" indent="-374650" algn="just">
              <a:lnSpc>
                <a:spcPct val="150000"/>
              </a:lnSpc>
              <a:spcBef>
                <a:spcPts val="1200"/>
              </a:spcBef>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Student_results</a:t>
            </a:r>
            <a:r>
              <a:rPr lang="en-US" sz="2200" dirty="0">
                <a:latin typeface="Times New Roman" panose="02020603050405020304" pitchFamily="18" charset="0"/>
                <a:cs typeface="Times New Roman" panose="02020603050405020304" pitchFamily="18" charset="0"/>
              </a:rPr>
              <a:t> Table</a:t>
            </a:r>
          </a:p>
          <a:p>
            <a:pPr marL="1349375" lvl="3" indent="-3746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Notifications Table</a:t>
            </a:r>
          </a:p>
          <a:p>
            <a:pPr marL="1349375" lvl="3" indent="-374650" algn="just">
              <a:lnSpc>
                <a:spcPct val="150000"/>
              </a:lnSpc>
              <a:spcBef>
                <a:spcPts val="1200"/>
              </a:spcBef>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Revaluation_requests</a:t>
            </a:r>
            <a:r>
              <a:rPr lang="en-US" sz="2200" dirty="0">
                <a:latin typeface="Times New Roman" panose="02020603050405020304" pitchFamily="18" charset="0"/>
                <a:cs typeface="Times New Roman" panose="02020603050405020304" pitchFamily="18" charset="0"/>
              </a:rPr>
              <a:t> Table</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design helps in reducing data redundancy and improving data organization.</a:t>
            </a:r>
          </a:p>
          <a:p>
            <a:pPr marL="285750" lvl="2" indent="-285750" algn="just">
              <a:lnSpc>
                <a:spcPct val="150000"/>
              </a:lnSpc>
              <a:spcBef>
                <a:spcPts val="1200"/>
              </a:spcBef>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database ensures data integrity using primary keys and constraints. </a:t>
            </a:r>
          </a:p>
          <a:p>
            <a:endParaRPr lang="en-IN" dirty="0"/>
          </a:p>
        </p:txBody>
      </p:sp>
    </p:spTree>
    <p:extLst>
      <p:ext uri="{BB962C8B-B14F-4D97-AF65-F5344CB8AC3E}">
        <p14:creationId xmlns:p14="http://schemas.microsoft.com/office/powerpoint/2010/main" val="89182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36FE3A23-6F7A-9CD3-0012-E9E7C7331AAD}"/>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DB0D226A-4905-9A23-644C-CE3991C38936}"/>
              </a:ext>
            </a:extLst>
          </p:cNvPr>
          <p:cNvSpPr txBox="1"/>
          <p:nvPr/>
        </p:nvSpPr>
        <p:spPr>
          <a:xfrm>
            <a:off x="533400" y="2005523"/>
            <a:ext cx="8366948" cy="646331"/>
          </a:xfrm>
          <a:prstGeom prst="rect">
            <a:avLst/>
          </a:prstGeom>
          <a:noFill/>
        </p:spPr>
        <p:txBody>
          <a:bodyPr wrap="square">
            <a:spAutoFit/>
          </a:bodyPr>
          <a:lstStyle/>
          <a:p>
            <a:r>
              <a:rPr lang="en-IN" b="1" dirty="0"/>
              <a:t>Admin Table :</a:t>
            </a:r>
          </a:p>
          <a:p>
            <a:r>
              <a:rPr lang="en-US" dirty="0"/>
              <a:t>			Stores admin(Faculty) details.</a:t>
            </a:r>
            <a:endParaRPr lang="en-IN" b="1" dirty="0"/>
          </a:p>
        </p:txBody>
      </p:sp>
      <p:graphicFrame>
        <p:nvGraphicFramePr>
          <p:cNvPr id="15" name="Table 14">
            <a:extLst>
              <a:ext uri="{FF2B5EF4-FFF2-40B4-BE49-F238E27FC236}">
                <a16:creationId xmlns:a16="http://schemas.microsoft.com/office/drawing/2014/main" id="{7A2EBB8D-ECD5-E1A2-413F-793969B568BB}"/>
              </a:ext>
            </a:extLst>
          </p:cNvPr>
          <p:cNvGraphicFramePr>
            <a:graphicFrameLocks noGrp="1"/>
          </p:cNvGraphicFramePr>
          <p:nvPr>
            <p:extLst>
              <p:ext uri="{D42A27DB-BD31-4B8C-83A1-F6EECF244321}">
                <p14:modId xmlns:p14="http://schemas.microsoft.com/office/powerpoint/2010/main" val="570216351"/>
              </p:ext>
            </p:extLst>
          </p:nvPr>
        </p:nvGraphicFramePr>
        <p:xfrm>
          <a:off x="1219200" y="3007008"/>
          <a:ext cx="8077200" cy="4231992"/>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2565518768"/>
                    </a:ext>
                  </a:extLst>
                </a:gridCol>
                <a:gridCol w="2019300">
                  <a:extLst>
                    <a:ext uri="{9D8B030D-6E8A-4147-A177-3AD203B41FA5}">
                      <a16:colId xmlns:a16="http://schemas.microsoft.com/office/drawing/2014/main" val="1063026024"/>
                    </a:ext>
                  </a:extLst>
                </a:gridCol>
                <a:gridCol w="2019300">
                  <a:extLst>
                    <a:ext uri="{9D8B030D-6E8A-4147-A177-3AD203B41FA5}">
                      <a16:colId xmlns:a16="http://schemas.microsoft.com/office/drawing/2014/main" val="2318603987"/>
                    </a:ext>
                  </a:extLst>
                </a:gridCol>
                <a:gridCol w="2019300">
                  <a:extLst>
                    <a:ext uri="{9D8B030D-6E8A-4147-A177-3AD203B41FA5}">
                      <a16:colId xmlns:a16="http://schemas.microsoft.com/office/drawing/2014/main" val="4086323780"/>
                    </a:ext>
                  </a:extLst>
                </a:gridCol>
              </a:tblGrid>
              <a:tr h="589572">
                <a:tc>
                  <a:txBody>
                    <a:bodyPr/>
                    <a:lstStyle/>
                    <a:p>
                      <a:pPr>
                        <a:buNone/>
                      </a:pPr>
                      <a:r>
                        <a:rPr lang="en-IN" dirty="0"/>
                        <a:t>Field Name</a:t>
                      </a:r>
                    </a:p>
                  </a:txBody>
                  <a:tcPr anchor="ctr"/>
                </a:tc>
                <a:tc>
                  <a:txBody>
                    <a:bodyPr/>
                    <a:lstStyle/>
                    <a:p>
                      <a:pPr>
                        <a:buNone/>
                      </a:pPr>
                      <a:r>
                        <a:rPr lang="en-IN"/>
                        <a:t>Data Type</a:t>
                      </a:r>
                      <a:endParaRPr lang="en-IN" dirty="0"/>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777565158"/>
                  </a:ext>
                </a:extLst>
              </a:tr>
              <a:tr h="589572">
                <a:tc>
                  <a:txBody>
                    <a:bodyPr/>
                    <a:lstStyle/>
                    <a:p>
                      <a:pPr>
                        <a:buNone/>
                      </a:pPr>
                      <a:r>
                        <a:rPr lang="en-US"/>
                        <a:t>i</a:t>
                      </a:r>
                      <a:r>
                        <a:rPr lang="en-IN"/>
                        <a:t>d</a:t>
                      </a:r>
                      <a:endParaRPr lang="en-IN" dirty="0"/>
                    </a:p>
                  </a:txBody>
                  <a:tcPr anchor="ctr"/>
                </a:tc>
                <a:tc>
                  <a:txBody>
                    <a:bodyPr/>
                    <a:lstStyle/>
                    <a:p>
                      <a:pPr>
                        <a:buNone/>
                      </a:pPr>
                      <a:r>
                        <a:rPr lang="en-IN"/>
                        <a:t>INT</a:t>
                      </a:r>
                      <a:endParaRPr lang="en-IN" dirty="0"/>
                    </a:p>
                  </a:txBody>
                  <a:tcPr anchor="ctr"/>
                </a:tc>
                <a:tc>
                  <a:txBody>
                    <a:bodyPr/>
                    <a:lstStyle/>
                    <a:p>
                      <a:pPr>
                        <a:buNone/>
                      </a:pPr>
                      <a:r>
                        <a:rPr lang="en-IN"/>
                        <a:t>Primary Key</a:t>
                      </a:r>
                    </a:p>
                  </a:txBody>
                  <a:tcPr anchor="ctr"/>
                </a:tc>
                <a:tc>
                  <a:txBody>
                    <a:bodyPr/>
                    <a:lstStyle/>
                    <a:p>
                      <a:pPr>
                        <a:buNone/>
                      </a:pPr>
                      <a:r>
                        <a:rPr lang="en-IN"/>
                        <a:t>User ID</a:t>
                      </a:r>
                      <a:endParaRPr lang="en-IN" dirty="0"/>
                    </a:p>
                  </a:txBody>
                  <a:tcPr anchor="ctr"/>
                </a:tc>
                <a:extLst>
                  <a:ext uri="{0D108BD9-81ED-4DB2-BD59-A6C34878D82A}">
                    <a16:rowId xmlns:a16="http://schemas.microsoft.com/office/drawing/2014/main" val="3144488007"/>
                  </a:ext>
                </a:extLst>
              </a:tr>
              <a:tr h="1017616">
                <a:tc>
                  <a:txBody>
                    <a:bodyPr/>
                    <a:lstStyle/>
                    <a:p>
                      <a:pPr>
                        <a:buNone/>
                      </a:pPr>
                      <a:r>
                        <a:rPr lang="en-US"/>
                        <a:t>u</a:t>
                      </a:r>
                      <a:r>
                        <a:rPr lang="en-IN"/>
                        <a:t>sername</a:t>
                      </a:r>
                      <a:endParaRPr lang="en-IN" dirty="0"/>
                    </a:p>
                  </a:txBody>
                  <a:tcPr anchor="ctr"/>
                </a:tc>
                <a:tc>
                  <a:txBody>
                    <a:bodyPr/>
                    <a:lstStyle/>
                    <a:p>
                      <a:pPr>
                        <a:buNone/>
                      </a:pPr>
                      <a:r>
                        <a:rPr lang="en-IN"/>
                        <a:t>VARCHAR(50)</a:t>
                      </a:r>
                      <a:endParaRPr lang="en-IN" dirty="0"/>
                    </a:p>
                  </a:txBody>
                  <a:tcPr anchor="ctr"/>
                </a:tc>
                <a:tc>
                  <a:txBody>
                    <a:bodyPr/>
                    <a:lstStyle/>
                    <a:p>
                      <a:pPr>
                        <a:buNone/>
                      </a:pPr>
                      <a:r>
                        <a:rPr lang="en-IN" dirty="0"/>
                        <a:t>—</a:t>
                      </a:r>
                    </a:p>
                  </a:txBody>
                  <a:tcPr anchor="ctr"/>
                </a:tc>
                <a:tc>
                  <a:txBody>
                    <a:bodyPr/>
                    <a:lstStyle/>
                    <a:p>
                      <a:pPr>
                        <a:buNone/>
                      </a:pPr>
                      <a:r>
                        <a:rPr lang="en-IN"/>
                        <a:t>User Name</a:t>
                      </a:r>
                      <a:endParaRPr lang="en-IN" dirty="0"/>
                    </a:p>
                  </a:txBody>
                  <a:tcPr anchor="ctr"/>
                </a:tc>
                <a:extLst>
                  <a:ext uri="{0D108BD9-81ED-4DB2-BD59-A6C34878D82A}">
                    <a16:rowId xmlns:a16="http://schemas.microsoft.com/office/drawing/2014/main" val="2379907431"/>
                  </a:ext>
                </a:extLst>
              </a:tr>
              <a:tr h="1017616">
                <a:tc>
                  <a:txBody>
                    <a:bodyPr/>
                    <a:lstStyle/>
                    <a:p>
                      <a:pPr>
                        <a:buNone/>
                      </a:pPr>
                      <a:r>
                        <a:rPr lang="en-US"/>
                        <a:t>P</a:t>
                      </a:r>
                      <a:r>
                        <a:rPr lang="en-IN"/>
                        <a:t>assword</a:t>
                      </a:r>
                      <a:endParaRPr lang="en-IN" dirty="0"/>
                    </a:p>
                  </a:txBody>
                  <a:tcPr anchor="ctr"/>
                </a:tc>
                <a:tc>
                  <a:txBody>
                    <a:bodyPr/>
                    <a:lstStyle/>
                    <a:p>
                      <a:pPr>
                        <a:buNone/>
                      </a:pPr>
                      <a:r>
                        <a:rPr lang="en-IN"/>
                        <a:t>VARCHAR(200)</a:t>
                      </a:r>
                      <a:endParaRPr lang="en-IN" dirty="0"/>
                    </a:p>
                  </a:txBody>
                  <a:tcPr anchor="ctr"/>
                </a:tc>
                <a:tc>
                  <a:txBody>
                    <a:bodyPr/>
                    <a:lstStyle/>
                    <a:p>
                      <a:pPr>
                        <a:buNone/>
                      </a:pPr>
                      <a:r>
                        <a:rPr lang="en-US" dirty="0"/>
                        <a:t>__</a:t>
                      </a:r>
                      <a:endParaRPr lang="en-IN" dirty="0"/>
                    </a:p>
                  </a:txBody>
                  <a:tcPr anchor="ctr"/>
                </a:tc>
                <a:tc>
                  <a:txBody>
                    <a:bodyPr/>
                    <a:lstStyle/>
                    <a:p>
                      <a:pPr>
                        <a:buNone/>
                      </a:pPr>
                      <a:r>
                        <a:rPr lang="en-US" dirty="0"/>
                        <a:t>User P</a:t>
                      </a:r>
                      <a:r>
                        <a:rPr lang="en-IN" dirty="0" err="1"/>
                        <a:t>assword</a:t>
                      </a:r>
                      <a:endParaRPr lang="en-IN" dirty="0"/>
                    </a:p>
                  </a:txBody>
                  <a:tcPr anchor="ctr"/>
                </a:tc>
                <a:extLst>
                  <a:ext uri="{0D108BD9-81ED-4DB2-BD59-A6C34878D82A}">
                    <a16:rowId xmlns:a16="http://schemas.microsoft.com/office/drawing/2014/main" val="1832366527"/>
                  </a:ext>
                </a:extLst>
              </a:tr>
              <a:tr h="1017616">
                <a:tc>
                  <a:txBody>
                    <a:bodyPr/>
                    <a:lstStyle/>
                    <a:p>
                      <a:pPr>
                        <a:buNone/>
                      </a:pPr>
                      <a:r>
                        <a:rPr lang="en-US" dirty="0"/>
                        <a:t>Role</a:t>
                      </a:r>
                      <a:endParaRPr lang="en-IN" dirty="0"/>
                    </a:p>
                  </a:txBody>
                  <a:tcPr anchor="ctr"/>
                </a:tc>
                <a:tc>
                  <a:txBody>
                    <a:bodyPr/>
                    <a:lstStyle/>
                    <a:p>
                      <a:pPr>
                        <a:buNone/>
                      </a:pPr>
                      <a:r>
                        <a:rPr lang="en-US" dirty="0"/>
                        <a:t>VARCHAR(200)</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p>
                      <a:pPr>
                        <a:buNone/>
                      </a:pPr>
                      <a:endParaRPr lang="en-IN" dirty="0"/>
                    </a:p>
                  </a:txBody>
                  <a:tcPr anchor="ctr"/>
                </a:tc>
                <a:tc>
                  <a:txBody>
                    <a:bodyPr/>
                    <a:lstStyle/>
                    <a:p>
                      <a:pPr>
                        <a:buNone/>
                      </a:pPr>
                      <a:r>
                        <a:rPr lang="en-US" dirty="0"/>
                        <a:t>Role of the User</a:t>
                      </a:r>
                      <a:endParaRPr lang="en-IN" dirty="0"/>
                    </a:p>
                  </a:txBody>
                  <a:tcPr anchor="ctr"/>
                </a:tc>
                <a:extLst>
                  <a:ext uri="{0D108BD9-81ED-4DB2-BD59-A6C34878D82A}">
                    <a16:rowId xmlns:a16="http://schemas.microsoft.com/office/drawing/2014/main" val="4208404695"/>
                  </a:ext>
                </a:extLst>
              </a:tr>
            </a:tbl>
          </a:graphicData>
        </a:graphic>
      </p:graphicFrame>
    </p:spTree>
    <p:extLst>
      <p:ext uri="{BB962C8B-B14F-4D97-AF65-F5344CB8AC3E}">
        <p14:creationId xmlns:p14="http://schemas.microsoft.com/office/powerpoint/2010/main" val="256587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76D6BF-13C6-C6B0-36DF-F1559314FA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CEAD52A-D6BA-B4AE-C1E4-8A54366273A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FAB0F939-F8B0-7014-4713-2E3FA82313DF}"/>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CD205DEE-CF0B-DBC2-E5CD-2C4FB4661C9F}"/>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2B7D6DA8-89F8-4CB4-20B5-36719C763BE0}"/>
              </a:ext>
            </a:extLst>
          </p:cNvPr>
          <p:cNvSpPr txBox="1"/>
          <p:nvPr/>
        </p:nvSpPr>
        <p:spPr>
          <a:xfrm>
            <a:off x="533400" y="2005523"/>
            <a:ext cx="8366948" cy="923330"/>
          </a:xfrm>
          <a:prstGeom prst="rect">
            <a:avLst/>
          </a:prstGeom>
          <a:noFill/>
        </p:spPr>
        <p:txBody>
          <a:bodyPr wrap="square">
            <a:spAutoFit/>
          </a:bodyPr>
          <a:lstStyle/>
          <a:p>
            <a:r>
              <a:rPr lang="en-IN" b="1" dirty="0"/>
              <a:t>Student Table :</a:t>
            </a:r>
          </a:p>
          <a:p>
            <a:endParaRPr lang="en-IN" b="1" dirty="0"/>
          </a:p>
          <a:p>
            <a:r>
              <a:rPr lang="en-US" dirty="0"/>
              <a:t>	</a:t>
            </a:r>
            <a:r>
              <a:rPr lang="en-IN" dirty="0"/>
              <a:t>Stores Student details(101, Alice, </a:t>
            </a:r>
            <a:r>
              <a:rPr lang="en-IN" dirty="0" err="1"/>
              <a:t>AIML,alice@gmail.com,Alice</a:t>
            </a:r>
            <a:r>
              <a:rPr lang="en-IN" dirty="0"/>
              <a:t>.)</a:t>
            </a:r>
            <a:endParaRPr lang="en-IN" b="1" dirty="0"/>
          </a:p>
        </p:txBody>
      </p:sp>
      <p:graphicFrame>
        <p:nvGraphicFramePr>
          <p:cNvPr id="15" name="Table 14">
            <a:extLst>
              <a:ext uri="{FF2B5EF4-FFF2-40B4-BE49-F238E27FC236}">
                <a16:creationId xmlns:a16="http://schemas.microsoft.com/office/drawing/2014/main" id="{C4CD2BA1-FBEB-D591-1D32-2516A6652B92}"/>
              </a:ext>
            </a:extLst>
          </p:cNvPr>
          <p:cNvGraphicFramePr>
            <a:graphicFrameLocks noGrp="1"/>
          </p:cNvGraphicFramePr>
          <p:nvPr>
            <p:extLst>
              <p:ext uri="{D42A27DB-BD31-4B8C-83A1-F6EECF244321}">
                <p14:modId xmlns:p14="http://schemas.microsoft.com/office/powerpoint/2010/main" val="1393639731"/>
              </p:ext>
            </p:extLst>
          </p:nvPr>
        </p:nvGraphicFramePr>
        <p:xfrm>
          <a:off x="1158052" y="3119491"/>
          <a:ext cx="8077984" cy="3927192"/>
        </p:xfrm>
        <a:graphic>
          <a:graphicData uri="http://schemas.openxmlformats.org/drawingml/2006/table">
            <a:tbl>
              <a:tblPr firstRow="1" bandRow="1">
                <a:tableStyleId>{5C22544A-7EE6-4342-B048-85BDC9FD1C3A}</a:tableStyleId>
              </a:tblPr>
              <a:tblGrid>
                <a:gridCol w="2019496">
                  <a:extLst>
                    <a:ext uri="{9D8B030D-6E8A-4147-A177-3AD203B41FA5}">
                      <a16:colId xmlns:a16="http://schemas.microsoft.com/office/drawing/2014/main" val="2565518768"/>
                    </a:ext>
                  </a:extLst>
                </a:gridCol>
                <a:gridCol w="2019496">
                  <a:extLst>
                    <a:ext uri="{9D8B030D-6E8A-4147-A177-3AD203B41FA5}">
                      <a16:colId xmlns:a16="http://schemas.microsoft.com/office/drawing/2014/main" val="1063026024"/>
                    </a:ext>
                  </a:extLst>
                </a:gridCol>
                <a:gridCol w="2019496">
                  <a:extLst>
                    <a:ext uri="{9D8B030D-6E8A-4147-A177-3AD203B41FA5}">
                      <a16:colId xmlns:a16="http://schemas.microsoft.com/office/drawing/2014/main" val="2318603987"/>
                    </a:ext>
                  </a:extLst>
                </a:gridCol>
                <a:gridCol w="2019496">
                  <a:extLst>
                    <a:ext uri="{9D8B030D-6E8A-4147-A177-3AD203B41FA5}">
                      <a16:colId xmlns:a16="http://schemas.microsoft.com/office/drawing/2014/main" val="4086323780"/>
                    </a:ext>
                  </a:extLst>
                </a:gridCol>
              </a:tblGrid>
              <a:tr h="441054">
                <a:tc>
                  <a:txBody>
                    <a:bodyPr/>
                    <a:lstStyle/>
                    <a:p>
                      <a:pPr>
                        <a:buNone/>
                      </a:pPr>
                      <a:r>
                        <a:rPr lang="en-IN"/>
                        <a:t>Field Name</a:t>
                      </a:r>
                    </a:p>
                  </a:txBody>
                  <a:tcPr anchor="ctr"/>
                </a:tc>
                <a:tc>
                  <a:txBody>
                    <a:bodyPr/>
                    <a:lstStyle/>
                    <a:p>
                      <a:pPr>
                        <a:buNone/>
                      </a:pPr>
                      <a:r>
                        <a:rPr lang="en-IN"/>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777565158"/>
                  </a:ext>
                </a:extLst>
              </a:tr>
              <a:tr h="441054">
                <a:tc>
                  <a:txBody>
                    <a:bodyPr/>
                    <a:lstStyle/>
                    <a:p>
                      <a:pPr>
                        <a:buNone/>
                      </a:pPr>
                      <a:r>
                        <a:rPr lang="en-US" dirty="0" err="1"/>
                        <a:t>Student_id</a:t>
                      </a:r>
                      <a:endParaRPr lang="en-IN" dirty="0"/>
                    </a:p>
                  </a:txBody>
                  <a:tcPr anchor="ctr"/>
                </a:tc>
                <a:tc>
                  <a:txBody>
                    <a:bodyPr/>
                    <a:lstStyle/>
                    <a:p>
                      <a:pPr>
                        <a:buNone/>
                      </a:pPr>
                      <a:r>
                        <a:rPr lang="en-IN" dirty="0"/>
                        <a:t>INT</a:t>
                      </a:r>
                    </a:p>
                  </a:txBody>
                  <a:tcPr anchor="ctr"/>
                </a:tc>
                <a:tc>
                  <a:txBody>
                    <a:bodyPr/>
                    <a:lstStyle/>
                    <a:p>
                      <a:pPr>
                        <a:buNone/>
                      </a:pPr>
                      <a:r>
                        <a:rPr lang="en-IN" dirty="0"/>
                        <a:t>Primary Key</a:t>
                      </a:r>
                    </a:p>
                  </a:txBody>
                  <a:tcPr anchor="ctr"/>
                </a:tc>
                <a:tc>
                  <a:txBody>
                    <a:bodyPr/>
                    <a:lstStyle/>
                    <a:p>
                      <a:pPr>
                        <a:buNone/>
                      </a:pPr>
                      <a:r>
                        <a:rPr lang="en-IN" dirty="0"/>
                        <a:t>Student ID</a:t>
                      </a:r>
                    </a:p>
                  </a:txBody>
                  <a:tcPr anchor="ctr"/>
                </a:tc>
                <a:extLst>
                  <a:ext uri="{0D108BD9-81ED-4DB2-BD59-A6C34878D82A}">
                    <a16:rowId xmlns:a16="http://schemas.microsoft.com/office/drawing/2014/main" val="3144488007"/>
                  </a:ext>
                </a:extLst>
              </a:tr>
              <a:tr h="761271">
                <a:tc>
                  <a:txBody>
                    <a:bodyPr/>
                    <a:lstStyle/>
                    <a:p>
                      <a:pPr>
                        <a:buNone/>
                      </a:pPr>
                      <a:r>
                        <a:rPr lang="en-IN" dirty="0"/>
                        <a:t>name</a:t>
                      </a:r>
                    </a:p>
                  </a:txBody>
                  <a:tcPr anchor="ctr"/>
                </a:tc>
                <a:tc>
                  <a:txBody>
                    <a:bodyPr/>
                    <a:lstStyle/>
                    <a:p>
                      <a:pPr>
                        <a:buNone/>
                      </a:pPr>
                      <a:r>
                        <a:rPr lang="en-IN" dirty="0"/>
                        <a:t>VARCHAR(50)</a:t>
                      </a:r>
                    </a:p>
                  </a:txBody>
                  <a:tcPr anchor="ctr"/>
                </a:tc>
                <a:tc>
                  <a:txBody>
                    <a:bodyPr/>
                    <a:lstStyle/>
                    <a:p>
                      <a:pPr>
                        <a:buNone/>
                      </a:pPr>
                      <a:r>
                        <a:rPr lang="en-IN" dirty="0"/>
                        <a:t>—</a:t>
                      </a:r>
                    </a:p>
                  </a:txBody>
                  <a:tcPr anchor="ctr"/>
                </a:tc>
                <a:tc>
                  <a:txBody>
                    <a:bodyPr/>
                    <a:lstStyle/>
                    <a:p>
                      <a:pPr>
                        <a:buNone/>
                      </a:pPr>
                      <a:r>
                        <a:rPr lang="en-IN" dirty="0"/>
                        <a:t>Student Name</a:t>
                      </a:r>
                    </a:p>
                  </a:txBody>
                  <a:tcPr anchor="ctr"/>
                </a:tc>
                <a:extLst>
                  <a:ext uri="{0D108BD9-81ED-4DB2-BD59-A6C34878D82A}">
                    <a16:rowId xmlns:a16="http://schemas.microsoft.com/office/drawing/2014/main" val="2379907431"/>
                  </a:ext>
                </a:extLst>
              </a:tr>
              <a:tr h="761271">
                <a:tc>
                  <a:txBody>
                    <a:bodyPr/>
                    <a:lstStyle/>
                    <a:p>
                      <a:pPr>
                        <a:buNone/>
                      </a:pPr>
                      <a:r>
                        <a:rPr lang="en-US" dirty="0"/>
                        <a:t>department</a:t>
                      </a:r>
                      <a:endParaRPr lang="en-IN" dirty="0"/>
                    </a:p>
                  </a:txBody>
                  <a:tcPr anchor="ctr"/>
                </a:tc>
                <a:tc>
                  <a:txBody>
                    <a:bodyPr/>
                    <a:lstStyle/>
                    <a:p>
                      <a:pPr>
                        <a:buNone/>
                      </a:pPr>
                      <a:r>
                        <a:rPr lang="en-IN" dirty="0"/>
                        <a:t>VARCHAR(200)</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txBody>
                  <a:tcPr anchor="ctr"/>
                </a:tc>
                <a:tc>
                  <a:txBody>
                    <a:bodyPr/>
                    <a:lstStyle/>
                    <a:p>
                      <a:pPr>
                        <a:buNone/>
                      </a:pPr>
                      <a:r>
                        <a:rPr lang="en-US" dirty="0"/>
                        <a:t>D</a:t>
                      </a:r>
                      <a:r>
                        <a:rPr lang="en-IN" dirty="0" err="1"/>
                        <a:t>epartment</a:t>
                      </a:r>
                      <a:r>
                        <a:rPr lang="en-IN" dirty="0"/>
                        <a:t> of the student</a:t>
                      </a:r>
                    </a:p>
                  </a:txBody>
                  <a:tcPr anchor="ctr"/>
                </a:tc>
                <a:extLst>
                  <a:ext uri="{0D108BD9-81ED-4DB2-BD59-A6C34878D82A}">
                    <a16:rowId xmlns:a16="http://schemas.microsoft.com/office/drawing/2014/main" val="1832366527"/>
                  </a:ext>
                </a:extLst>
              </a:tr>
              <a:tr h="761271">
                <a:tc>
                  <a:txBody>
                    <a:bodyPr/>
                    <a:lstStyle/>
                    <a:p>
                      <a:pPr>
                        <a:buNone/>
                      </a:pPr>
                      <a:r>
                        <a:rPr lang="en-US" dirty="0"/>
                        <a:t>email</a:t>
                      </a:r>
                      <a:endParaRPr lang="en-IN" dirty="0"/>
                    </a:p>
                  </a:txBody>
                  <a:tcPr anchor="ctr"/>
                </a:tc>
                <a:tc>
                  <a:txBody>
                    <a:bodyPr/>
                    <a:lstStyle/>
                    <a:p>
                      <a:pPr>
                        <a:buNone/>
                      </a:pPr>
                      <a:r>
                        <a:rPr lang="en-IN" dirty="0"/>
                        <a:t>VARCHAR(200)</a:t>
                      </a:r>
                    </a:p>
                  </a:txBody>
                  <a:tcPr anchor="ctr"/>
                </a:tc>
                <a:tc>
                  <a:txBody>
                    <a:bodyPr/>
                    <a:lstStyle/>
                    <a:p>
                      <a:pPr>
                        <a:buNone/>
                      </a:pPr>
                      <a:r>
                        <a:rPr lang="en-IN" dirty="0"/>
                        <a:t>—</a:t>
                      </a:r>
                    </a:p>
                  </a:txBody>
                  <a:tcPr anchor="ctr"/>
                </a:tc>
                <a:tc>
                  <a:txBody>
                    <a:bodyPr/>
                    <a:lstStyle/>
                    <a:p>
                      <a:pPr>
                        <a:buNone/>
                      </a:pPr>
                      <a:r>
                        <a:rPr lang="en-US" dirty="0"/>
                        <a:t>Student mail</a:t>
                      </a:r>
                      <a:endParaRPr lang="en-IN" dirty="0"/>
                    </a:p>
                  </a:txBody>
                  <a:tcPr anchor="ctr"/>
                </a:tc>
                <a:extLst>
                  <a:ext uri="{0D108BD9-81ED-4DB2-BD59-A6C34878D82A}">
                    <a16:rowId xmlns:a16="http://schemas.microsoft.com/office/drawing/2014/main" val="1480541491"/>
                  </a:ext>
                </a:extLst>
              </a:tr>
              <a:tr h="761271">
                <a:tc>
                  <a:txBody>
                    <a:bodyPr/>
                    <a:lstStyle/>
                    <a:p>
                      <a:pPr>
                        <a:buNone/>
                      </a:pPr>
                      <a:r>
                        <a:rPr lang="en-US" dirty="0"/>
                        <a:t>Password</a:t>
                      </a:r>
                      <a:endParaRPr lang="en-IN" dirty="0"/>
                    </a:p>
                  </a:txBody>
                  <a:tcPr anchor="ctr"/>
                </a:tc>
                <a:tc>
                  <a:txBody>
                    <a:bodyPr/>
                    <a:lstStyle/>
                    <a:p>
                      <a:pPr>
                        <a:buNone/>
                      </a:pPr>
                      <a:r>
                        <a:rPr lang="en-IN" dirty="0"/>
                        <a:t>VARCHAR(50)</a:t>
                      </a:r>
                    </a:p>
                  </a:txBody>
                  <a:tcPr anchor="ctr"/>
                </a:tc>
                <a:tc>
                  <a:txBody>
                    <a:bodyPr/>
                    <a:lstStyle/>
                    <a:p>
                      <a:pPr>
                        <a:buNone/>
                      </a:pPr>
                      <a:r>
                        <a:rPr lang="en-IN" dirty="0"/>
                        <a:t>—</a:t>
                      </a:r>
                    </a:p>
                  </a:txBody>
                  <a:tcPr anchor="ctr"/>
                </a:tc>
                <a:tc>
                  <a:txBody>
                    <a:bodyPr/>
                    <a:lstStyle/>
                    <a:p>
                      <a:pPr>
                        <a:buNone/>
                      </a:pPr>
                      <a:r>
                        <a:rPr lang="en-US" dirty="0"/>
                        <a:t>Student Password</a:t>
                      </a:r>
                      <a:endParaRPr lang="en-IN" dirty="0"/>
                    </a:p>
                  </a:txBody>
                  <a:tcPr anchor="ctr"/>
                </a:tc>
                <a:extLst>
                  <a:ext uri="{0D108BD9-81ED-4DB2-BD59-A6C34878D82A}">
                    <a16:rowId xmlns:a16="http://schemas.microsoft.com/office/drawing/2014/main" val="2362948143"/>
                  </a:ext>
                </a:extLst>
              </a:tr>
            </a:tbl>
          </a:graphicData>
        </a:graphic>
      </p:graphicFrame>
    </p:spTree>
    <p:extLst>
      <p:ext uri="{BB962C8B-B14F-4D97-AF65-F5344CB8AC3E}">
        <p14:creationId xmlns:p14="http://schemas.microsoft.com/office/powerpoint/2010/main" val="1327093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F869-60E9-7283-1E5C-031B97BB287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22CCC8F-8AC9-DA04-7DF6-792709DB8A6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D3CC7CDE-C0AA-8C40-F47A-6BB38775C79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251A7B03-12DB-BDB0-A823-3B5CC5C3EA9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4C3D95F-A98E-C662-A8CA-7C22609274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51ECD6EB-B411-BAC9-D612-83CAADD7C06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5340093-ADC0-C519-A46D-D43188C5189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EC0178A3-A864-AC29-8239-3EE3EEC824D7}"/>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88CC2DB0-515C-5729-13F5-411810B0A1D6}"/>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BE4EB3E5-F5F4-BFDA-2030-B081D8DD8B72}"/>
              </a:ext>
            </a:extLst>
          </p:cNvPr>
          <p:cNvSpPr txBox="1"/>
          <p:nvPr/>
        </p:nvSpPr>
        <p:spPr>
          <a:xfrm>
            <a:off x="533400" y="2005523"/>
            <a:ext cx="8366948" cy="646331"/>
          </a:xfrm>
          <a:prstGeom prst="rect">
            <a:avLst/>
          </a:prstGeom>
          <a:noFill/>
        </p:spPr>
        <p:txBody>
          <a:bodyPr wrap="square">
            <a:spAutoFit/>
          </a:bodyPr>
          <a:lstStyle/>
          <a:p>
            <a:r>
              <a:rPr lang="en-IN" b="1" dirty="0"/>
              <a:t>Marks Table :</a:t>
            </a:r>
          </a:p>
          <a:p>
            <a:r>
              <a:rPr lang="en-US" dirty="0"/>
              <a:t>		Stores marks details of all students in all the subjects.</a:t>
            </a:r>
            <a:endParaRPr lang="en-IN" b="1" dirty="0"/>
          </a:p>
        </p:txBody>
      </p:sp>
      <p:graphicFrame>
        <p:nvGraphicFramePr>
          <p:cNvPr id="3" name="Table 2">
            <a:extLst>
              <a:ext uri="{FF2B5EF4-FFF2-40B4-BE49-F238E27FC236}">
                <a16:creationId xmlns:a16="http://schemas.microsoft.com/office/drawing/2014/main" id="{31F6B0F5-0FDB-2059-BAAA-EC98BE885AE3}"/>
              </a:ext>
            </a:extLst>
          </p:cNvPr>
          <p:cNvGraphicFramePr>
            <a:graphicFrameLocks noGrp="1"/>
          </p:cNvGraphicFramePr>
          <p:nvPr>
            <p:extLst>
              <p:ext uri="{D42A27DB-BD31-4B8C-83A1-F6EECF244321}">
                <p14:modId xmlns:p14="http://schemas.microsoft.com/office/powerpoint/2010/main" val="1181473886"/>
              </p:ext>
            </p:extLst>
          </p:nvPr>
        </p:nvGraphicFramePr>
        <p:xfrm>
          <a:off x="1440742" y="2879663"/>
          <a:ext cx="7924800" cy="4286165"/>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843935576"/>
                    </a:ext>
                  </a:extLst>
                </a:gridCol>
                <a:gridCol w="1981200">
                  <a:extLst>
                    <a:ext uri="{9D8B030D-6E8A-4147-A177-3AD203B41FA5}">
                      <a16:colId xmlns:a16="http://schemas.microsoft.com/office/drawing/2014/main" val="435965065"/>
                    </a:ext>
                  </a:extLst>
                </a:gridCol>
                <a:gridCol w="1981200">
                  <a:extLst>
                    <a:ext uri="{9D8B030D-6E8A-4147-A177-3AD203B41FA5}">
                      <a16:colId xmlns:a16="http://schemas.microsoft.com/office/drawing/2014/main" val="508337157"/>
                    </a:ext>
                  </a:extLst>
                </a:gridCol>
                <a:gridCol w="1981200">
                  <a:extLst>
                    <a:ext uri="{9D8B030D-6E8A-4147-A177-3AD203B41FA5}">
                      <a16:colId xmlns:a16="http://schemas.microsoft.com/office/drawing/2014/main" val="1121942475"/>
                    </a:ext>
                  </a:extLst>
                </a:gridCol>
              </a:tblGrid>
              <a:tr h="578859">
                <a:tc>
                  <a:txBody>
                    <a:bodyPr/>
                    <a:lstStyle/>
                    <a:p>
                      <a:pPr>
                        <a:buNone/>
                      </a:pPr>
                      <a:r>
                        <a:rPr lang="en-IN" dirty="0"/>
                        <a:t>Field Name</a:t>
                      </a:r>
                    </a:p>
                  </a:txBody>
                  <a:tcPr anchor="ctr"/>
                </a:tc>
                <a:tc>
                  <a:txBody>
                    <a:bodyPr/>
                    <a:lstStyle/>
                    <a:p>
                      <a:pPr>
                        <a:buNone/>
                      </a:pPr>
                      <a:r>
                        <a:rPr lang="en-IN"/>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1348740825"/>
                  </a:ext>
                </a:extLst>
              </a:tr>
              <a:tr h="578859">
                <a:tc>
                  <a:txBody>
                    <a:bodyPr/>
                    <a:lstStyle/>
                    <a:p>
                      <a:pPr>
                        <a:buNone/>
                      </a:pPr>
                      <a:r>
                        <a:rPr lang="en-IN" dirty="0"/>
                        <a:t>id</a:t>
                      </a:r>
                    </a:p>
                  </a:txBody>
                  <a:tcPr anchor="ctr"/>
                </a:tc>
                <a:tc>
                  <a:txBody>
                    <a:bodyPr/>
                    <a:lstStyle/>
                    <a:p>
                      <a:pPr>
                        <a:buNone/>
                      </a:pPr>
                      <a:r>
                        <a:rPr lang="en-IN"/>
                        <a:t>INT</a:t>
                      </a:r>
                    </a:p>
                  </a:txBody>
                  <a:tcPr anchor="ctr"/>
                </a:tc>
                <a:tc>
                  <a:txBody>
                    <a:bodyPr/>
                    <a:lstStyle/>
                    <a:p>
                      <a:pPr>
                        <a:buNone/>
                      </a:pPr>
                      <a:r>
                        <a:rPr lang="en-IN"/>
                        <a:t>Primary Key</a:t>
                      </a:r>
                    </a:p>
                  </a:txBody>
                  <a:tcPr anchor="ctr"/>
                </a:tc>
                <a:tc>
                  <a:txBody>
                    <a:bodyPr/>
                    <a:lstStyle/>
                    <a:p>
                      <a:pPr>
                        <a:buNone/>
                      </a:pPr>
                      <a:r>
                        <a:rPr lang="en-IN" dirty="0"/>
                        <a:t>marks ID</a:t>
                      </a:r>
                    </a:p>
                  </a:txBody>
                  <a:tcPr anchor="ctr"/>
                </a:tc>
                <a:extLst>
                  <a:ext uri="{0D108BD9-81ED-4DB2-BD59-A6C34878D82A}">
                    <a16:rowId xmlns:a16="http://schemas.microsoft.com/office/drawing/2014/main" val="793349371"/>
                  </a:ext>
                </a:extLst>
              </a:tr>
              <a:tr h="578859">
                <a:tc>
                  <a:txBody>
                    <a:bodyPr/>
                    <a:lstStyle/>
                    <a:p>
                      <a:pPr>
                        <a:buNone/>
                      </a:pPr>
                      <a:r>
                        <a:rPr lang="en-US" dirty="0" err="1"/>
                        <a:t>studentRoll</a:t>
                      </a:r>
                      <a:endParaRPr lang="en-IN" dirty="0"/>
                    </a:p>
                  </a:txBody>
                  <a:tcPr anchor="ctr"/>
                </a:tc>
                <a:tc>
                  <a:txBody>
                    <a:bodyPr/>
                    <a:lstStyle/>
                    <a:p>
                      <a:pPr>
                        <a:buNone/>
                      </a:pPr>
                      <a:r>
                        <a:rPr lang="en-IN"/>
                        <a:t>VARCHAR(100)</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Foreign Key</a:t>
                      </a:r>
                    </a:p>
                  </a:txBody>
                  <a:tcPr anchor="ctr"/>
                </a:tc>
                <a:tc>
                  <a:txBody>
                    <a:bodyPr/>
                    <a:lstStyle/>
                    <a:p>
                      <a:pPr>
                        <a:buNone/>
                      </a:pPr>
                      <a:r>
                        <a:rPr lang="en-US" dirty="0"/>
                        <a:t>R</a:t>
                      </a:r>
                      <a:r>
                        <a:rPr lang="en-IN" dirty="0" err="1"/>
                        <a:t>oll</a:t>
                      </a:r>
                      <a:r>
                        <a:rPr lang="en-IN" dirty="0"/>
                        <a:t> number of the student</a:t>
                      </a:r>
                    </a:p>
                  </a:txBody>
                  <a:tcPr anchor="ctr"/>
                </a:tc>
                <a:extLst>
                  <a:ext uri="{0D108BD9-81ED-4DB2-BD59-A6C34878D82A}">
                    <a16:rowId xmlns:a16="http://schemas.microsoft.com/office/drawing/2014/main" val="1597805091"/>
                  </a:ext>
                </a:extLst>
              </a:tr>
              <a:tr h="570929">
                <a:tc>
                  <a:txBody>
                    <a:bodyPr/>
                    <a:lstStyle/>
                    <a:p>
                      <a:pPr>
                        <a:buNone/>
                      </a:pPr>
                      <a:r>
                        <a:rPr lang="en-US" dirty="0"/>
                        <a:t>s</a:t>
                      </a:r>
                      <a:r>
                        <a:rPr lang="en-IN" dirty="0" err="1"/>
                        <a:t>ubject</a:t>
                      </a:r>
                      <a:endParaRPr lang="en-IN" dirty="0"/>
                    </a:p>
                  </a:txBody>
                  <a:tcPr anchor="ctr"/>
                </a:tc>
                <a:tc>
                  <a:txBody>
                    <a:bodyPr/>
                    <a:lstStyle/>
                    <a:p>
                      <a:pPr>
                        <a:buNone/>
                      </a:pPr>
                      <a:r>
                        <a:rPr lang="en-IN"/>
                        <a:t>VARCHAR(15)</a:t>
                      </a:r>
                    </a:p>
                  </a:txBody>
                  <a:tcPr anchor="ctr"/>
                </a:tc>
                <a:tc>
                  <a:txBody>
                    <a:bodyPr/>
                    <a:lstStyle/>
                    <a:p>
                      <a:pPr>
                        <a:buNone/>
                      </a:pPr>
                      <a:r>
                        <a:rPr lang="en-IN"/>
                        <a:t>—</a:t>
                      </a:r>
                    </a:p>
                  </a:txBody>
                  <a:tcPr anchor="ctr"/>
                </a:tc>
                <a:tc>
                  <a:txBody>
                    <a:bodyPr/>
                    <a:lstStyle/>
                    <a:p>
                      <a:pPr>
                        <a:buNone/>
                      </a:pPr>
                      <a:r>
                        <a:rPr lang="en-US" dirty="0"/>
                        <a:t>S</a:t>
                      </a:r>
                      <a:r>
                        <a:rPr lang="en-IN" dirty="0" err="1"/>
                        <a:t>ubject</a:t>
                      </a:r>
                      <a:r>
                        <a:rPr lang="en-IN" dirty="0"/>
                        <a:t> name</a:t>
                      </a:r>
                    </a:p>
                  </a:txBody>
                  <a:tcPr anchor="ctr"/>
                </a:tc>
                <a:extLst>
                  <a:ext uri="{0D108BD9-81ED-4DB2-BD59-A6C34878D82A}">
                    <a16:rowId xmlns:a16="http://schemas.microsoft.com/office/drawing/2014/main" val="915615743"/>
                  </a:ext>
                </a:extLst>
              </a:tr>
              <a:tr h="570929">
                <a:tc>
                  <a:txBody>
                    <a:bodyPr/>
                    <a:lstStyle/>
                    <a:p>
                      <a:pPr>
                        <a:buNone/>
                      </a:pPr>
                      <a:r>
                        <a:rPr lang="en-US" dirty="0"/>
                        <a:t>marks</a:t>
                      </a:r>
                      <a:endParaRPr lang="en-IN" dirty="0"/>
                    </a:p>
                  </a:txBody>
                  <a:tcPr anchor="ctr"/>
                </a:tc>
                <a:tc>
                  <a:txBody>
                    <a:bodyPr/>
                    <a:lstStyle/>
                    <a:p>
                      <a:pPr>
                        <a:buNone/>
                      </a:pPr>
                      <a:r>
                        <a:rPr lang="en-IN"/>
                        <a:t>VARCHAR(100)</a:t>
                      </a:r>
                    </a:p>
                  </a:txBody>
                  <a:tcPr anchor="ctr"/>
                </a:tc>
                <a:tc>
                  <a:txBody>
                    <a:bodyPr/>
                    <a:lstStyle/>
                    <a:p>
                      <a:pPr>
                        <a:buNone/>
                      </a:pPr>
                      <a:r>
                        <a:rPr lang="en-IN" dirty="0"/>
                        <a:t>—</a:t>
                      </a:r>
                    </a:p>
                  </a:txBody>
                  <a:tcPr anchor="ctr"/>
                </a:tc>
                <a:tc>
                  <a:txBody>
                    <a:bodyPr/>
                    <a:lstStyle/>
                    <a:p>
                      <a:pPr>
                        <a:buNone/>
                      </a:pPr>
                      <a:r>
                        <a:rPr lang="en-US" dirty="0"/>
                        <a:t>Marks obtained by student</a:t>
                      </a:r>
                      <a:endParaRPr lang="en-IN" dirty="0"/>
                    </a:p>
                  </a:txBody>
                  <a:tcPr anchor="ctr"/>
                </a:tc>
                <a:extLst>
                  <a:ext uri="{0D108BD9-81ED-4DB2-BD59-A6C34878D82A}">
                    <a16:rowId xmlns:a16="http://schemas.microsoft.com/office/drawing/2014/main" val="2033003038"/>
                  </a:ext>
                </a:extLst>
              </a:tr>
              <a:tr h="698499">
                <a:tc>
                  <a:txBody>
                    <a:bodyPr/>
                    <a:lstStyle/>
                    <a:p>
                      <a:pPr>
                        <a:buNone/>
                      </a:pPr>
                      <a:r>
                        <a:rPr lang="en-US" dirty="0"/>
                        <a:t>s</a:t>
                      </a:r>
                      <a:r>
                        <a:rPr lang="en-IN" dirty="0" err="1"/>
                        <a:t>emester</a:t>
                      </a:r>
                      <a:endParaRPr lang="en-IN" dirty="0"/>
                    </a:p>
                  </a:txBody>
                  <a:tcPr anchor="ctr"/>
                </a:tc>
                <a:tc>
                  <a:txBody>
                    <a:bodyPr/>
                    <a:lstStyle/>
                    <a:p>
                      <a:pPr>
                        <a:buNone/>
                      </a:pPr>
                      <a:r>
                        <a:rPr lang="en-IN"/>
                        <a:t>INT</a:t>
                      </a:r>
                    </a:p>
                  </a:txBody>
                  <a:tcPr anchor="ctr"/>
                </a:tc>
                <a:tc>
                  <a:txBody>
                    <a:bodyPr/>
                    <a:lstStyle/>
                    <a:p>
                      <a:pPr>
                        <a:buNone/>
                      </a:pPr>
                      <a:endParaRPr lang="en-IN" dirty="0"/>
                    </a:p>
                  </a:txBody>
                  <a:tcPr anchor="ctr"/>
                </a:tc>
                <a:tc>
                  <a:txBody>
                    <a:bodyPr/>
                    <a:lstStyle/>
                    <a:p>
                      <a:pPr>
                        <a:buNone/>
                      </a:pPr>
                      <a:r>
                        <a:rPr lang="en-US" dirty="0"/>
                        <a:t>Semester of student</a:t>
                      </a:r>
                      <a:endParaRPr lang="en-IN" dirty="0"/>
                    </a:p>
                  </a:txBody>
                  <a:tcPr anchor="ctr"/>
                </a:tc>
                <a:extLst>
                  <a:ext uri="{0D108BD9-81ED-4DB2-BD59-A6C34878D82A}">
                    <a16:rowId xmlns:a16="http://schemas.microsoft.com/office/drawing/2014/main" val="328272867"/>
                  </a:ext>
                </a:extLst>
              </a:tr>
              <a:tr h="578859">
                <a:tc>
                  <a:txBody>
                    <a:bodyPr/>
                    <a:lstStyle/>
                    <a:p>
                      <a:pPr>
                        <a:buNone/>
                      </a:pPr>
                      <a:r>
                        <a:rPr lang="en-US" dirty="0"/>
                        <a:t>E</a:t>
                      </a:r>
                      <a:r>
                        <a:rPr lang="en-IN" dirty="0" err="1"/>
                        <a:t>xam_date</a:t>
                      </a:r>
                      <a:endParaRPr lang="en-IN" dirty="0"/>
                    </a:p>
                  </a:txBody>
                  <a:tcPr anchor="ctr"/>
                </a:tc>
                <a:tc>
                  <a:txBody>
                    <a:bodyPr/>
                    <a:lstStyle/>
                    <a:p>
                      <a:pPr>
                        <a:buNone/>
                      </a:pPr>
                      <a:r>
                        <a:rPr lang="en-US" dirty="0"/>
                        <a:t>D</a:t>
                      </a:r>
                      <a:r>
                        <a:rPr lang="en-IN" dirty="0"/>
                        <a:t>ATE</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txBody>
                  <a:tcPr anchor="ctr"/>
                </a:tc>
                <a:tc>
                  <a:txBody>
                    <a:bodyPr/>
                    <a:lstStyle/>
                    <a:p>
                      <a:pPr>
                        <a:buNone/>
                      </a:pPr>
                      <a:r>
                        <a:rPr lang="en-US" dirty="0"/>
                        <a:t>Exam date</a:t>
                      </a:r>
                      <a:endParaRPr lang="en-IN" dirty="0"/>
                    </a:p>
                  </a:txBody>
                  <a:tcPr anchor="ctr"/>
                </a:tc>
                <a:extLst>
                  <a:ext uri="{0D108BD9-81ED-4DB2-BD59-A6C34878D82A}">
                    <a16:rowId xmlns:a16="http://schemas.microsoft.com/office/drawing/2014/main" val="1853633334"/>
                  </a:ext>
                </a:extLst>
              </a:tr>
            </a:tbl>
          </a:graphicData>
        </a:graphic>
      </p:graphicFrame>
    </p:spTree>
    <p:extLst>
      <p:ext uri="{BB962C8B-B14F-4D97-AF65-F5344CB8AC3E}">
        <p14:creationId xmlns:p14="http://schemas.microsoft.com/office/powerpoint/2010/main" val="1096694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DDFE6-68D0-626B-CEA5-012AC4CE06D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6AB6B8D9-907C-14D3-FE13-17C6E6CA573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F2F8D3D4-7414-5BC2-228C-E9103C17FB7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960E6045-C32B-45CA-9E5F-2D8B9813510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41BB376-4DAB-084D-64E6-3760EA8F9DDD}"/>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E4FAF633-2235-2851-C3E8-F177ABCCA2F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3F3E476-DF9A-C6ED-BCF5-6782970F311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6F5A8444-086B-9125-6392-B400175A6B5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FE2C5A62-55CB-BE52-28C1-9826A4970DAA}"/>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7F5AECAB-ADA0-137A-8F14-77698E44A825}"/>
              </a:ext>
            </a:extLst>
          </p:cNvPr>
          <p:cNvSpPr txBox="1"/>
          <p:nvPr/>
        </p:nvSpPr>
        <p:spPr>
          <a:xfrm>
            <a:off x="533400" y="2005523"/>
            <a:ext cx="8366948" cy="646331"/>
          </a:xfrm>
          <a:prstGeom prst="rect">
            <a:avLst/>
          </a:prstGeom>
          <a:noFill/>
        </p:spPr>
        <p:txBody>
          <a:bodyPr wrap="square">
            <a:spAutoFit/>
          </a:bodyPr>
          <a:lstStyle/>
          <a:p>
            <a:r>
              <a:rPr lang="en-IN" b="1" dirty="0"/>
              <a:t>Student Result Table :</a:t>
            </a:r>
          </a:p>
          <a:p>
            <a:r>
              <a:rPr lang="en-US" dirty="0"/>
              <a:t>		Stores all the student’s results</a:t>
            </a:r>
            <a:endParaRPr lang="en-IN" b="1" dirty="0"/>
          </a:p>
        </p:txBody>
      </p:sp>
      <p:graphicFrame>
        <p:nvGraphicFramePr>
          <p:cNvPr id="3" name="Table 2">
            <a:extLst>
              <a:ext uri="{FF2B5EF4-FFF2-40B4-BE49-F238E27FC236}">
                <a16:creationId xmlns:a16="http://schemas.microsoft.com/office/drawing/2014/main" id="{ECE2212A-37A1-89A7-A746-64DED323801A}"/>
              </a:ext>
            </a:extLst>
          </p:cNvPr>
          <p:cNvGraphicFramePr>
            <a:graphicFrameLocks noGrp="1"/>
          </p:cNvGraphicFramePr>
          <p:nvPr>
            <p:extLst>
              <p:ext uri="{D42A27DB-BD31-4B8C-83A1-F6EECF244321}">
                <p14:modId xmlns:p14="http://schemas.microsoft.com/office/powerpoint/2010/main" val="3006509987"/>
              </p:ext>
            </p:extLst>
          </p:nvPr>
        </p:nvGraphicFramePr>
        <p:xfrm>
          <a:off x="1259248" y="2851507"/>
          <a:ext cx="7767008" cy="4806544"/>
        </p:xfrm>
        <a:graphic>
          <a:graphicData uri="http://schemas.openxmlformats.org/drawingml/2006/table">
            <a:tbl>
              <a:tblPr firstRow="1" bandRow="1">
                <a:tableStyleId>{5C22544A-7EE6-4342-B048-85BDC9FD1C3A}</a:tableStyleId>
              </a:tblPr>
              <a:tblGrid>
                <a:gridCol w="1941752">
                  <a:extLst>
                    <a:ext uri="{9D8B030D-6E8A-4147-A177-3AD203B41FA5}">
                      <a16:colId xmlns:a16="http://schemas.microsoft.com/office/drawing/2014/main" val="3202670111"/>
                    </a:ext>
                  </a:extLst>
                </a:gridCol>
                <a:gridCol w="1941752">
                  <a:extLst>
                    <a:ext uri="{9D8B030D-6E8A-4147-A177-3AD203B41FA5}">
                      <a16:colId xmlns:a16="http://schemas.microsoft.com/office/drawing/2014/main" val="4006832804"/>
                    </a:ext>
                  </a:extLst>
                </a:gridCol>
                <a:gridCol w="1941752">
                  <a:extLst>
                    <a:ext uri="{9D8B030D-6E8A-4147-A177-3AD203B41FA5}">
                      <a16:colId xmlns:a16="http://schemas.microsoft.com/office/drawing/2014/main" val="264281203"/>
                    </a:ext>
                  </a:extLst>
                </a:gridCol>
                <a:gridCol w="1941752">
                  <a:extLst>
                    <a:ext uri="{9D8B030D-6E8A-4147-A177-3AD203B41FA5}">
                      <a16:colId xmlns:a16="http://schemas.microsoft.com/office/drawing/2014/main" val="1629121304"/>
                    </a:ext>
                  </a:extLst>
                </a:gridCol>
              </a:tblGrid>
              <a:tr h="420680">
                <a:tc>
                  <a:txBody>
                    <a:bodyPr/>
                    <a:lstStyle/>
                    <a:p>
                      <a:pPr>
                        <a:buNone/>
                      </a:pPr>
                      <a:r>
                        <a:rPr lang="en-IN" dirty="0"/>
                        <a:t>Field Name</a:t>
                      </a:r>
                    </a:p>
                  </a:txBody>
                  <a:tcPr anchor="ctr"/>
                </a:tc>
                <a:tc>
                  <a:txBody>
                    <a:bodyPr/>
                    <a:lstStyle/>
                    <a:p>
                      <a:pPr>
                        <a:buNone/>
                      </a:pPr>
                      <a:r>
                        <a:rPr lang="en-IN"/>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1572804198"/>
                  </a:ext>
                </a:extLst>
              </a:tr>
              <a:tr h="420680">
                <a:tc>
                  <a:txBody>
                    <a:bodyPr/>
                    <a:lstStyle/>
                    <a:p>
                      <a:pPr>
                        <a:buNone/>
                      </a:pPr>
                      <a:r>
                        <a:rPr lang="en-US" dirty="0"/>
                        <a:t>roll</a:t>
                      </a:r>
                      <a:endParaRPr lang="en-IN" dirty="0"/>
                    </a:p>
                  </a:txBody>
                  <a:tcPr anchor="ctr"/>
                </a:tc>
                <a:tc>
                  <a:txBody>
                    <a:bodyPr/>
                    <a:lstStyle/>
                    <a:p>
                      <a:pPr>
                        <a:buNone/>
                      </a:pPr>
                      <a:r>
                        <a:rPr lang="en-IN" dirty="0"/>
                        <a:t>INT</a:t>
                      </a:r>
                    </a:p>
                  </a:txBody>
                  <a:tcPr anchor="ctr"/>
                </a:tc>
                <a:tc>
                  <a:txBody>
                    <a:bodyPr/>
                    <a:lstStyle/>
                    <a:p>
                      <a:pPr>
                        <a:buNone/>
                      </a:pPr>
                      <a:r>
                        <a:rPr lang="en-IN"/>
                        <a:t>Primary Key</a:t>
                      </a:r>
                    </a:p>
                  </a:txBody>
                  <a:tcPr anchor="ctr"/>
                </a:tc>
                <a:tc>
                  <a:txBody>
                    <a:bodyPr/>
                    <a:lstStyle/>
                    <a:p>
                      <a:pPr>
                        <a:buNone/>
                      </a:pPr>
                      <a:r>
                        <a:rPr lang="en-US" dirty="0"/>
                        <a:t>S</a:t>
                      </a:r>
                      <a:r>
                        <a:rPr lang="en-IN" dirty="0" err="1"/>
                        <a:t>tudent</a:t>
                      </a:r>
                      <a:r>
                        <a:rPr lang="en-IN" dirty="0"/>
                        <a:t> </a:t>
                      </a:r>
                      <a:r>
                        <a:rPr lang="en-IN" dirty="0" err="1"/>
                        <a:t>RollNumber</a:t>
                      </a:r>
                      <a:endParaRPr lang="en-IN" dirty="0"/>
                    </a:p>
                  </a:txBody>
                  <a:tcPr anchor="ctr"/>
                </a:tc>
                <a:extLst>
                  <a:ext uri="{0D108BD9-81ED-4DB2-BD59-A6C34878D82A}">
                    <a16:rowId xmlns:a16="http://schemas.microsoft.com/office/drawing/2014/main" val="152173844"/>
                  </a:ext>
                </a:extLst>
              </a:tr>
              <a:tr h="420680">
                <a:tc>
                  <a:txBody>
                    <a:bodyPr/>
                    <a:lstStyle/>
                    <a:p>
                      <a:pPr>
                        <a:buNone/>
                      </a:pPr>
                      <a:r>
                        <a:rPr lang="en-IN" dirty="0"/>
                        <a:t>name</a:t>
                      </a:r>
                    </a:p>
                  </a:txBody>
                  <a:tcPr anchor="ctr"/>
                </a:tc>
                <a:tc>
                  <a:txBody>
                    <a:bodyPr/>
                    <a:lstStyle/>
                    <a:p>
                      <a:pPr>
                        <a:buNone/>
                      </a:pPr>
                      <a:r>
                        <a:rPr lang="en-IN"/>
                        <a:t>VARCHAR(50)</a:t>
                      </a:r>
                    </a:p>
                  </a:txBody>
                  <a:tcPr anchor="ctr"/>
                </a:tc>
                <a:tc>
                  <a:txBody>
                    <a:bodyPr/>
                    <a:lstStyle/>
                    <a:p>
                      <a:pPr>
                        <a:buNone/>
                      </a:pPr>
                      <a:r>
                        <a:rPr lang="en-IN"/>
                        <a:t>Unique</a:t>
                      </a:r>
                    </a:p>
                  </a:txBody>
                  <a:tcPr anchor="ctr"/>
                </a:tc>
                <a:tc>
                  <a:txBody>
                    <a:bodyPr/>
                    <a:lstStyle/>
                    <a:p>
                      <a:pPr>
                        <a:buNone/>
                      </a:pPr>
                      <a:r>
                        <a:rPr lang="en-US" dirty="0"/>
                        <a:t>S</a:t>
                      </a:r>
                      <a:r>
                        <a:rPr lang="en-IN" dirty="0" err="1"/>
                        <a:t>tudent</a:t>
                      </a:r>
                      <a:r>
                        <a:rPr lang="en-IN" dirty="0"/>
                        <a:t> name</a:t>
                      </a:r>
                    </a:p>
                  </a:txBody>
                  <a:tcPr anchor="ctr"/>
                </a:tc>
                <a:extLst>
                  <a:ext uri="{0D108BD9-81ED-4DB2-BD59-A6C34878D82A}">
                    <a16:rowId xmlns:a16="http://schemas.microsoft.com/office/drawing/2014/main" val="296586095"/>
                  </a:ext>
                </a:extLst>
              </a:tr>
              <a:tr h="420680">
                <a:tc>
                  <a:txBody>
                    <a:bodyPr/>
                    <a:lstStyle/>
                    <a:p>
                      <a:pPr>
                        <a:buNone/>
                      </a:pPr>
                      <a:r>
                        <a:rPr lang="en-US" dirty="0"/>
                        <a:t>d</a:t>
                      </a:r>
                      <a:r>
                        <a:rPr lang="en-IN" dirty="0" err="1"/>
                        <a:t>epartment</a:t>
                      </a:r>
                      <a:endParaRPr lang="en-IN" dirty="0"/>
                    </a:p>
                  </a:txBody>
                  <a:tcPr anchor="ctr"/>
                </a:tc>
                <a:tc>
                  <a:txBody>
                    <a:bodyPr/>
                    <a:lstStyle/>
                    <a:p>
                      <a:pPr>
                        <a:buNone/>
                      </a:pPr>
                      <a:r>
                        <a:rPr lang="en-IN" dirty="0"/>
                        <a:t>VARCHAR(100)</a:t>
                      </a:r>
                    </a:p>
                  </a:txBody>
                  <a:tcPr anchor="ctr"/>
                </a:tc>
                <a:tc>
                  <a:txBody>
                    <a:bodyPr/>
                    <a:lstStyle/>
                    <a:p>
                      <a:pPr>
                        <a:buNone/>
                      </a:pPr>
                      <a:r>
                        <a:rPr lang="en-IN" dirty="0"/>
                        <a:t>—</a:t>
                      </a:r>
                    </a:p>
                  </a:txBody>
                  <a:tcPr anchor="ctr"/>
                </a:tc>
                <a:tc>
                  <a:txBody>
                    <a:bodyPr/>
                    <a:lstStyle/>
                    <a:p>
                      <a:pPr>
                        <a:buNone/>
                      </a:pPr>
                      <a:r>
                        <a:rPr lang="en-US" dirty="0"/>
                        <a:t>D</a:t>
                      </a:r>
                      <a:r>
                        <a:rPr lang="en-IN" dirty="0" err="1"/>
                        <a:t>epartment</a:t>
                      </a:r>
                      <a:r>
                        <a:rPr lang="en-IN" dirty="0"/>
                        <a:t> name</a:t>
                      </a:r>
                    </a:p>
                  </a:txBody>
                  <a:tcPr anchor="ctr"/>
                </a:tc>
                <a:extLst>
                  <a:ext uri="{0D108BD9-81ED-4DB2-BD59-A6C34878D82A}">
                    <a16:rowId xmlns:a16="http://schemas.microsoft.com/office/drawing/2014/main" val="4055298792"/>
                  </a:ext>
                </a:extLst>
              </a:tr>
              <a:tr h="726106">
                <a:tc>
                  <a:txBody>
                    <a:bodyPr/>
                    <a:lstStyle/>
                    <a:p>
                      <a:pPr>
                        <a:buNone/>
                      </a:pPr>
                      <a:r>
                        <a:rPr lang="en-US" dirty="0"/>
                        <a:t>s</a:t>
                      </a:r>
                      <a:r>
                        <a:rPr lang="en-IN" dirty="0" err="1"/>
                        <a:t>ubject</a:t>
                      </a:r>
                      <a:endParaRPr lang="en-IN" dirty="0"/>
                    </a:p>
                  </a:txBody>
                  <a:tcPr anchor="ctr"/>
                </a:tc>
                <a:tc>
                  <a:txBody>
                    <a:bodyPr/>
                    <a:lstStyle/>
                    <a:p>
                      <a:pPr>
                        <a:buNone/>
                      </a:pPr>
                      <a:r>
                        <a:rPr lang="en-IN" dirty="0"/>
                        <a:t>VARCHAR(100)</a:t>
                      </a:r>
                    </a:p>
                  </a:txBody>
                  <a:tcPr anchor="ctr"/>
                </a:tc>
                <a:tc>
                  <a:txBody>
                    <a:bodyPr/>
                    <a:lstStyle/>
                    <a:p>
                      <a:pPr>
                        <a:buNone/>
                      </a:pPr>
                      <a:r>
                        <a:rPr lang="en-IN" dirty="0"/>
                        <a:t>—</a:t>
                      </a:r>
                    </a:p>
                  </a:txBody>
                  <a:tcPr anchor="ctr"/>
                </a:tc>
                <a:tc>
                  <a:txBody>
                    <a:bodyPr/>
                    <a:lstStyle/>
                    <a:p>
                      <a:pPr>
                        <a:buNone/>
                      </a:pPr>
                      <a:r>
                        <a:rPr lang="en-US" dirty="0"/>
                        <a:t>S</a:t>
                      </a:r>
                      <a:r>
                        <a:rPr lang="en-IN" dirty="0" err="1"/>
                        <a:t>ubject</a:t>
                      </a:r>
                      <a:r>
                        <a:rPr lang="en-IN" dirty="0"/>
                        <a:t> name</a:t>
                      </a:r>
                    </a:p>
                  </a:txBody>
                  <a:tcPr anchor="ctr"/>
                </a:tc>
                <a:extLst>
                  <a:ext uri="{0D108BD9-81ED-4DB2-BD59-A6C34878D82A}">
                    <a16:rowId xmlns:a16="http://schemas.microsoft.com/office/drawing/2014/main" val="3120277307"/>
                  </a:ext>
                </a:extLst>
              </a:tr>
              <a:tr h="726106">
                <a:tc>
                  <a:txBody>
                    <a:bodyPr/>
                    <a:lstStyle/>
                    <a:p>
                      <a:pPr>
                        <a:buNone/>
                      </a:pPr>
                      <a:r>
                        <a:rPr lang="en-US" dirty="0"/>
                        <a:t>marks</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INT</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p>
                      <a:pPr>
                        <a:buNone/>
                      </a:pPr>
                      <a:endParaRPr lang="en-IN" dirty="0"/>
                    </a:p>
                  </a:txBody>
                  <a:tcPr anchor="ctr"/>
                </a:tc>
                <a:tc>
                  <a:txBody>
                    <a:bodyPr/>
                    <a:lstStyle/>
                    <a:p>
                      <a:pPr>
                        <a:buNone/>
                      </a:pPr>
                      <a:r>
                        <a:rPr lang="en-US" dirty="0"/>
                        <a:t>Marks obtained</a:t>
                      </a:r>
                      <a:endParaRPr lang="en-IN" dirty="0"/>
                    </a:p>
                  </a:txBody>
                  <a:tcPr anchor="ctr"/>
                </a:tc>
                <a:extLst>
                  <a:ext uri="{0D108BD9-81ED-4DB2-BD59-A6C34878D82A}">
                    <a16:rowId xmlns:a16="http://schemas.microsoft.com/office/drawing/2014/main" val="2366264044"/>
                  </a:ext>
                </a:extLst>
              </a:tr>
              <a:tr h="726106">
                <a:tc>
                  <a:txBody>
                    <a:bodyPr/>
                    <a:lstStyle/>
                    <a:p>
                      <a:pPr>
                        <a:buNone/>
                      </a:pPr>
                      <a:r>
                        <a:rPr lang="en-US" dirty="0"/>
                        <a:t>semester</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INT</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p>
                      <a:pPr>
                        <a:buNone/>
                      </a:pPr>
                      <a:endParaRPr lang="en-IN" dirty="0"/>
                    </a:p>
                  </a:txBody>
                  <a:tcPr anchor="ctr"/>
                </a:tc>
                <a:tc>
                  <a:txBody>
                    <a:bodyPr/>
                    <a:lstStyle/>
                    <a:p>
                      <a:pPr>
                        <a:buNone/>
                      </a:pPr>
                      <a:r>
                        <a:rPr lang="en-US" dirty="0"/>
                        <a:t>semester</a:t>
                      </a:r>
                      <a:endParaRPr lang="en-IN" dirty="0"/>
                    </a:p>
                  </a:txBody>
                  <a:tcPr anchor="ctr"/>
                </a:tc>
                <a:extLst>
                  <a:ext uri="{0D108BD9-81ED-4DB2-BD59-A6C34878D82A}">
                    <a16:rowId xmlns:a16="http://schemas.microsoft.com/office/drawing/2014/main" val="2977742331"/>
                  </a:ext>
                </a:extLst>
              </a:tr>
              <a:tr h="726106">
                <a:tc>
                  <a:txBody>
                    <a:bodyPr/>
                    <a:lstStyle/>
                    <a:p>
                      <a:pPr>
                        <a:buNone/>
                      </a:pPr>
                      <a:r>
                        <a:rPr lang="en-US" dirty="0"/>
                        <a:t>grade</a:t>
                      </a:r>
                      <a:endParaRPr lang="en-IN" dirty="0"/>
                    </a:p>
                  </a:txBody>
                  <a:tcPr anchor="ctr"/>
                </a:tc>
                <a:tc>
                  <a:txBody>
                    <a:bodyPr/>
                    <a:lstStyle/>
                    <a:p>
                      <a:pPr>
                        <a:buNone/>
                      </a:pPr>
                      <a:r>
                        <a:rPr lang="en-US" dirty="0"/>
                        <a:t>VARCHAR(5)</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p>
                      <a:pPr>
                        <a:buNone/>
                      </a:pPr>
                      <a:endParaRPr lang="en-IN" dirty="0"/>
                    </a:p>
                  </a:txBody>
                  <a:tcPr anchor="ctr"/>
                </a:tc>
                <a:tc>
                  <a:txBody>
                    <a:bodyPr/>
                    <a:lstStyle/>
                    <a:p>
                      <a:pPr>
                        <a:buNone/>
                      </a:pPr>
                      <a:r>
                        <a:rPr lang="en-US" dirty="0"/>
                        <a:t>Grade obtained</a:t>
                      </a:r>
                      <a:endParaRPr lang="en-IN" dirty="0"/>
                    </a:p>
                  </a:txBody>
                  <a:tcPr anchor="ctr"/>
                </a:tc>
                <a:extLst>
                  <a:ext uri="{0D108BD9-81ED-4DB2-BD59-A6C34878D82A}">
                    <a16:rowId xmlns:a16="http://schemas.microsoft.com/office/drawing/2014/main" val="2379665087"/>
                  </a:ext>
                </a:extLst>
              </a:tr>
            </a:tbl>
          </a:graphicData>
        </a:graphic>
      </p:graphicFrame>
    </p:spTree>
    <p:extLst>
      <p:ext uri="{BB962C8B-B14F-4D97-AF65-F5344CB8AC3E}">
        <p14:creationId xmlns:p14="http://schemas.microsoft.com/office/powerpoint/2010/main" val="2359568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3">
            <a:extLst>
              <a:ext uri="{FF2B5EF4-FFF2-40B4-BE49-F238E27FC236}">
                <a16:creationId xmlns:a16="http://schemas.microsoft.com/office/drawing/2014/main" id="{FACDB906-7023-575F-5C36-0663D5F2110C}"/>
              </a:ext>
            </a:extLst>
          </p:cNvPr>
          <p:cNvGrpSpPr/>
          <p:nvPr/>
        </p:nvGrpSpPr>
        <p:grpSpPr>
          <a:xfrm>
            <a:off x="2543763" y="254838"/>
            <a:ext cx="5103904" cy="1198311"/>
            <a:chOff x="2648188" y="47148"/>
            <a:chExt cx="5103904" cy="1198311"/>
          </a:xfrm>
        </p:grpSpPr>
        <p:pic>
          <p:nvPicPr>
            <p:cNvPr id="15" name="object 4">
              <a:extLst>
                <a:ext uri="{FF2B5EF4-FFF2-40B4-BE49-F238E27FC236}">
                  <a16:creationId xmlns:a16="http://schemas.microsoft.com/office/drawing/2014/main" id="{A737A91F-46F9-34B3-3990-35A536432659}"/>
                </a:ext>
              </a:extLst>
            </p:cNvPr>
            <p:cNvPicPr/>
            <p:nvPr/>
          </p:nvPicPr>
          <p:blipFill>
            <a:blip r:embed="rId2" cstate="print"/>
            <a:stretch>
              <a:fillRect/>
            </a:stretch>
          </p:blipFill>
          <p:spPr>
            <a:xfrm>
              <a:off x="2648188" y="47148"/>
              <a:ext cx="5103904" cy="1198311"/>
            </a:xfrm>
            <a:prstGeom prst="rect">
              <a:avLst/>
            </a:prstGeom>
          </p:spPr>
        </p:pic>
        <p:pic>
          <p:nvPicPr>
            <p:cNvPr id="16" name="object 5">
              <a:extLst>
                <a:ext uri="{FF2B5EF4-FFF2-40B4-BE49-F238E27FC236}">
                  <a16:creationId xmlns:a16="http://schemas.microsoft.com/office/drawing/2014/main" id="{4E324C8F-971F-2FD8-9984-EAC5DAAE577E}"/>
                </a:ext>
              </a:extLst>
            </p:cNvPr>
            <p:cNvPicPr/>
            <p:nvPr/>
          </p:nvPicPr>
          <p:blipFill>
            <a:blip r:embed="rId3" cstate="print"/>
            <a:stretch>
              <a:fillRect/>
            </a:stretch>
          </p:blipFill>
          <p:spPr>
            <a:xfrm>
              <a:off x="2703195" y="86439"/>
              <a:ext cx="4997767" cy="1092279"/>
            </a:xfrm>
            <a:prstGeom prst="rect">
              <a:avLst/>
            </a:prstGeom>
          </p:spPr>
        </p:pic>
        <p:pic>
          <p:nvPicPr>
            <p:cNvPr id="17" name="object 6">
              <a:extLst>
                <a:ext uri="{FF2B5EF4-FFF2-40B4-BE49-F238E27FC236}">
                  <a16:creationId xmlns:a16="http://schemas.microsoft.com/office/drawing/2014/main" id="{B21B31D4-9470-A33B-BFD2-A6E14F4A6E0B}"/>
                </a:ext>
              </a:extLst>
            </p:cNvPr>
            <p:cNvPicPr/>
            <p:nvPr/>
          </p:nvPicPr>
          <p:blipFill>
            <a:blip r:embed="rId4" cstate="print"/>
            <a:stretch>
              <a:fillRect/>
            </a:stretch>
          </p:blipFill>
          <p:spPr>
            <a:xfrm>
              <a:off x="2828925" y="243549"/>
              <a:ext cx="4585268" cy="522565"/>
            </a:xfrm>
            <a:prstGeom prst="rect">
              <a:avLst/>
            </a:prstGeom>
          </p:spPr>
        </p:pic>
        <p:sp>
          <p:nvSpPr>
            <p:cNvPr id="18" name="object 7">
              <a:extLst>
                <a:ext uri="{FF2B5EF4-FFF2-40B4-BE49-F238E27FC236}">
                  <a16:creationId xmlns:a16="http://schemas.microsoft.com/office/drawing/2014/main" id="{0B1512E1-2E1C-30AB-CCDB-27FC4CEF7975}"/>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2" name="Title 1">
            <a:extLst>
              <a:ext uri="{FF2B5EF4-FFF2-40B4-BE49-F238E27FC236}">
                <a16:creationId xmlns:a16="http://schemas.microsoft.com/office/drawing/2014/main" id="{71358132-C78C-AE6E-98FE-9200C41A3DDC}"/>
              </a:ext>
            </a:extLst>
          </p:cNvPr>
          <p:cNvSpPr>
            <a:spLocks noGrp="1"/>
          </p:cNvSpPr>
          <p:nvPr>
            <p:ph type="title"/>
          </p:nvPr>
        </p:nvSpPr>
        <p:spPr>
          <a:xfrm>
            <a:off x="3799886" y="512915"/>
            <a:ext cx="2528570" cy="353943"/>
          </a:xfrm>
        </p:spPr>
        <p:txBody>
          <a:bodyPr/>
          <a:lstStyle/>
          <a:p>
            <a:r>
              <a:rPr lang="en-US" dirty="0" err="1">
                <a:solidFill>
                  <a:schemeClr val="bg1">
                    <a:lumMod val="95000"/>
                  </a:schemeClr>
                </a:solidFill>
                <a:latin typeface="Times New Roman" panose="02020603050405020304" pitchFamily="18" charset="0"/>
                <a:cs typeface="Times New Roman" panose="02020603050405020304" pitchFamily="18" charset="0"/>
              </a:rPr>
              <a:t>DataBase</a:t>
            </a:r>
            <a:r>
              <a:rPr lang="en-US" dirty="0">
                <a:solidFill>
                  <a:schemeClr val="bg1">
                    <a:lumMod val="95000"/>
                  </a:schemeClr>
                </a:solidFill>
                <a:latin typeface="Times New Roman" panose="02020603050405020304" pitchFamily="18" charset="0"/>
                <a:cs typeface="Times New Roman" panose="02020603050405020304" pitchFamily="18" charset="0"/>
              </a:rPr>
              <a:t> Design</a:t>
            </a:r>
            <a:endParaRPr lang="en-IN" dirty="0">
              <a:solidFill>
                <a:schemeClr val="bg1">
                  <a:lumMod val="95000"/>
                </a:schemeClr>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4C76E9C1-4370-19CD-F172-B3531315879A}"/>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23" name="TextBox 22">
            <a:extLst>
              <a:ext uri="{FF2B5EF4-FFF2-40B4-BE49-F238E27FC236}">
                <a16:creationId xmlns:a16="http://schemas.microsoft.com/office/drawing/2014/main" id="{AE3ED674-0F5C-58B8-588D-8E7E56685918}"/>
              </a:ext>
            </a:extLst>
          </p:cNvPr>
          <p:cNvSpPr txBox="1"/>
          <p:nvPr/>
        </p:nvSpPr>
        <p:spPr>
          <a:xfrm>
            <a:off x="692544" y="2018027"/>
            <a:ext cx="8366948" cy="923330"/>
          </a:xfrm>
          <a:prstGeom prst="rect">
            <a:avLst/>
          </a:prstGeom>
          <a:noFill/>
        </p:spPr>
        <p:txBody>
          <a:bodyPr wrap="square">
            <a:spAutoFit/>
          </a:bodyPr>
          <a:lstStyle/>
          <a:p>
            <a:r>
              <a:rPr lang="en-IN" b="1" dirty="0"/>
              <a:t>Notification Table :</a:t>
            </a:r>
          </a:p>
          <a:p>
            <a:endParaRPr lang="en-IN" b="1" dirty="0"/>
          </a:p>
          <a:p>
            <a:r>
              <a:rPr lang="en-US" dirty="0"/>
              <a:t>	</a:t>
            </a:r>
            <a:r>
              <a:rPr lang="en-IN" dirty="0"/>
              <a:t>Stores the details of the notifications.</a:t>
            </a:r>
            <a:endParaRPr lang="en-IN" b="1" dirty="0"/>
          </a:p>
        </p:txBody>
      </p:sp>
      <p:graphicFrame>
        <p:nvGraphicFramePr>
          <p:cNvPr id="24" name="Table 23">
            <a:extLst>
              <a:ext uri="{FF2B5EF4-FFF2-40B4-BE49-F238E27FC236}">
                <a16:creationId xmlns:a16="http://schemas.microsoft.com/office/drawing/2014/main" id="{291D6C07-DCA0-D5A7-8CA3-EB95FB0216C0}"/>
              </a:ext>
            </a:extLst>
          </p:cNvPr>
          <p:cNvGraphicFramePr>
            <a:graphicFrameLocks noGrp="1"/>
          </p:cNvGraphicFramePr>
          <p:nvPr>
            <p:extLst>
              <p:ext uri="{D42A27DB-BD31-4B8C-83A1-F6EECF244321}">
                <p14:modId xmlns:p14="http://schemas.microsoft.com/office/powerpoint/2010/main" val="2089289680"/>
              </p:ext>
            </p:extLst>
          </p:nvPr>
        </p:nvGraphicFramePr>
        <p:xfrm>
          <a:off x="1066800" y="3231397"/>
          <a:ext cx="7924800" cy="4286165"/>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2843935576"/>
                    </a:ext>
                  </a:extLst>
                </a:gridCol>
                <a:gridCol w="1981200">
                  <a:extLst>
                    <a:ext uri="{9D8B030D-6E8A-4147-A177-3AD203B41FA5}">
                      <a16:colId xmlns:a16="http://schemas.microsoft.com/office/drawing/2014/main" val="435965065"/>
                    </a:ext>
                  </a:extLst>
                </a:gridCol>
                <a:gridCol w="1981200">
                  <a:extLst>
                    <a:ext uri="{9D8B030D-6E8A-4147-A177-3AD203B41FA5}">
                      <a16:colId xmlns:a16="http://schemas.microsoft.com/office/drawing/2014/main" val="508337157"/>
                    </a:ext>
                  </a:extLst>
                </a:gridCol>
                <a:gridCol w="1981200">
                  <a:extLst>
                    <a:ext uri="{9D8B030D-6E8A-4147-A177-3AD203B41FA5}">
                      <a16:colId xmlns:a16="http://schemas.microsoft.com/office/drawing/2014/main" val="1121942475"/>
                    </a:ext>
                  </a:extLst>
                </a:gridCol>
              </a:tblGrid>
              <a:tr h="578859">
                <a:tc>
                  <a:txBody>
                    <a:bodyPr/>
                    <a:lstStyle/>
                    <a:p>
                      <a:pPr>
                        <a:buNone/>
                      </a:pPr>
                      <a:r>
                        <a:rPr lang="en-IN" dirty="0"/>
                        <a:t>Field Name</a:t>
                      </a:r>
                    </a:p>
                  </a:txBody>
                  <a:tcPr anchor="ctr"/>
                </a:tc>
                <a:tc>
                  <a:txBody>
                    <a:bodyPr/>
                    <a:lstStyle/>
                    <a:p>
                      <a:pPr>
                        <a:buNone/>
                      </a:pPr>
                      <a:r>
                        <a:rPr lang="en-IN"/>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1348740825"/>
                  </a:ext>
                </a:extLst>
              </a:tr>
              <a:tr h="578859">
                <a:tc>
                  <a:txBody>
                    <a:bodyPr/>
                    <a:lstStyle/>
                    <a:p>
                      <a:pPr>
                        <a:buNone/>
                      </a:pPr>
                      <a:r>
                        <a:rPr lang="en-IN" dirty="0"/>
                        <a:t>id</a:t>
                      </a:r>
                    </a:p>
                  </a:txBody>
                  <a:tcPr anchor="ctr"/>
                </a:tc>
                <a:tc>
                  <a:txBody>
                    <a:bodyPr/>
                    <a:lstStyle/>
                    <a:p>
                      <a:pPr>
                        <a:buNone/>
                      </a:pPr>
                      <a:r>
                        <a:rPr lang="en-IN"/>
                        <a:t>INT</a:t>
                      </a:r>
                    </a:p>
                  </a:txBody>
                  <a:tcPr anchor="ctr"/>
                </a:tc>
                <a:tc>
                  <a:txBody>
                    <a:bodyPr/>
                    <a:lstStyle/>
                    <a:p>
                      <a:pPr>
                        <a:buNone/>
                      </a:pPr>
                      <a:r>
                        <a:rPr lang="en-IN"/>
                        <a:t>Primary Key</a:t>
                      </a:r>
                    </a:p>
                  </a:txBody>
                  <a:tcPr anchor="ctr"/>
                </a:tc>
                <a:tc>
                  <a:txBody>
                    <a:bodyPr/>
                    <a:lstStyle/>
                    <a:p>
                      <a:pPr>
                        <a:buNone/>
                      </a:pPr>
                      <a:r>
                        <a:rPr lang="en-IN" dirty="0"/>
                        <a:t>notification ID</a:t>
                      </a:r>
                    </a:p>
                  </a:txBody>
                  <a:tcPr anchor="ctr"/>
                </a:tc>
                <a:extLst>
                  <a:ext uri="{0D108BD9-81ED-4DB2-BD59-A6C34878D82A}">
                    <a16:rowId xmlns:a16="http://schemas.microsoft.com/office/drawing/2014/main" val="793349371"/>
                  </a:ext>
                </a:extLst>
              </a:tr>
              <a:tr h="578859">
                <a:tc>
                  <a:txBody>
                    <a:bodyPr/>
                    <a:lstStyle/>
                    <a:p>
                      <a:pPr>
                        <a:buNone/>
                      </a:pPr>
                      <a:r>
                        <a:rPr lang="en-US" dirty="0" err="1"/>
                        <a:t>studentRoll</a:t>
                      </a:r>
                      <a:endParaRPr lang="en-IN" dirty="0"/>
                    </a:p>
                  </a:txBody>
                  <a:tcPr anchor="ctr"/>
                </a:tc>
                <a:tc>
                  <a:txBody>
                    <a:bodyPr/>
                    <a:lstStyle/>
                    <a:p>
                      <a:pPr>
                        <a:buNone/>
                      </a:pPr>
                      <a:r>
                        <a:rPr lang="en-IN"/>
                        <a:t>VARCHAR(100)</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Foreign Key</a:t>
                      </a:r>
                    </a:p>
                  </a:txBody>
                  <a:tcPr anchor="ctr"/>
                </a:tc>
                <a:tc>
                  <a:txBody>
                    <a:bodyPr/>
                    <a:lstStyle/>
                    <a:p>
                      <a:pPr>
                        <a:buNone/>
                      </a:pPr>
                      <a:r>
                        <a:rPr lang="en-US" dirty="0"/>
                        <a:t>R</a:t>
                      </a:r>
                      <a:r>
                        <a:rPr lang="en-IN" dirty="0" err="1"/>
                        <a:t>oll</a:t>
                      </a:r>
                      <a:r>
                        <a:rPr lang="en-IN" dirty="0"/>
                        <a:t> number of the student</a:t>
                      </a:r>
                    </a:p>
                  </a:txBody>
                  <a:tcPr anchor="ctr"/>
                </a:tc>
                <a:extLst>
                  <a:ext uri="{0D108BD9-81ED-4DB2-BD59-A6C34878D82A}">
                    <a16:rowId xmlns:a16="http://schemas.microsoft.com/office/drawing/2014/main" val="1597805091"/>
                  </a:ext>
                </a:extLst>
              </a:tr>
              <a:tr h="570929">
                <a:tc>
                  <a:txBody>
                    <a:bodyPr/>
                    <a:lstStyle/>
                    <a:p>
                      <a:pPr>
                        <a:buNone/>
                      </a:pPr>
                      <a:r>
                        <a:rPr lang="en-US" dirty="0"/>
                        <a:t>message</a:t>
                      </a:r>
                      <a:endParaRPr lang="en-IN" dirty="0"/>
                    </a:p>
                  </a:txBody>
                  <a:tcPr anchor="ctr"/>
                </a:tc>
                <a:tc>
                  <a:txBody>
                    <a:bodyPr/>
                    <a:lstStyle/>
                    <a:p>
                      <a:pPr>
                        <a:buNone/>
                      </a:pPr>
                      <a:r>
                        <a:rPr lang="en-US" dirty="0"/>
                        <a:t>t</a:t>
                      </a:r>
                      <a:r>
                        <a:rPr lang="en-IN" dirty="0" err="1"/>
                        <a:t>ext</a:t>
                      </a:r>
                      <a:endParaRPr lang="en-IN" dirty="0"/>
                    </a:p>
                  </a:txBody>
                  <a:tcPr anchor="ctr"/>
                </a:tc>
                <a:tc>
                  <a:txBody>
                    <a:bodyPr/>
                    <a:lstStyle/>
                    <a:p>
                      <a:pPr>
                        <a:buNone/>
                      </a:pPr>
                      <a:r>
                        <a:rPr lang="en-IN"/>
                        <a:t>—</a:t>
                      </a:r>
                    </a:p>
                  </a:txBody>
                  <a:tcPr anchor="ctr"/>
                </a:tc>
                <a:tc>
                  <a:txBody>
                    <a:bodyPr/>
                    <a:lstStyle/>
                    <a:p>
                      <a:pPr>
                        <a:buNone/>
                      </a:pPr>
                      <a:r>
                        <a:rPr lang="en-US" dirty="0"/>
                        <a:t>message</a:t>
                      </a:r>
                      <a:endParaRPr lang="en-IN" dirty="0"/>
                    </a:p>
                  </a:txBody>
                  <a:tcPr anchor="ctr"/>
                </a:tc>
                <a:extLst>
                  <a:ext uri="{0D108BD9-81ED-4DB2-BD59-A6C34878D82A}">
                    <a16:rowId xmlns:a16="http://schemas.microsoft.com/office/drawing/2014/main" val="915615743"/>
                  </a:ext>
                </a:extLst>
              </a:tr>
              <a:tr h="570929">
                <a:tc>
                  <a:txBody>
                    <a:bodyPr/>
                    <a:lstStyle/>
                    <a:p>
                      <a:pPr>
                        <a:buNone/>
                      </a:pPr>
                      <a:r>
                        <a:rPr lang="en-US" dirty="0"/>
                        <a:t>type</a:t>
                      </a:r>
                      <a:endParaRPr lang="en-IN" dirty="0"/>
                    </a:p>
                  </a:txBody>
                  <a:tcPr anchor="ctr"/>
                </a:tc>
                <a:tc>
                  <a:txBody>
                    <a:bodyPr/>
                    <a:lstStyle/>
                    <a:p>
                      <a:pPr>
                        <a:buNone/>
                      </a:pPr>
                      <a:r>
                        <a:rPr lang="en-IN"/>
                        <a:t>VARCHAR(100)</a:t>
                      </a:r>
                    </a:p>
                  </a:txBody>
                  <a:tcPr anchor="ctr"/>
                </a:tc>
                <a:tc>
                  <a:txBody>
                    <a:bodyPr/>
                    <a:lstStyle/>
                    <a:p>
                      <a:pPr>
                        <a:buNone/>
                      </a:pPr>
                      <a:r>
                        <a:rPr lang="en-IN" dirty="0"/>
                        <a:t>—</a:t>
                      </a:r>
                    </a:p>
                  </a:txBody>
                  <a:tcPr anchor="ctr"/>
                </a:tc>
                <a:tc>
                  <a:txBody>
                    <a:bodyPr/>
                    <a:lstStyle/>
                    <a:p>
                      <a:pPr>
                        <a:buNone/>
                      </a:pPr>
                      <a:r>
                        <a:rPr lang="en-US" dirty="0"/>
                        <a:t>Type of notification</a:t>
                      </a:r>
                      <a:endParaRPr lang="en-IN" dirty="0"/>
                    </a:p>
                  </a:txBody>
                  <a:tcPr anchor="ctr"/>
                </a:tc>
                <a:extLst>
                  <a:ext uri="{0D108BD9-81ED-4DB2-BD59-A6C34878D82A}">
                    <a16:rowId xmlns:a16="http://schemas.microsoft.com/office/drawing/2014/main" val="2033003038"/>
                  </a:ext>
                </a:extLst>
              </a:tr>
              <a:tr h="698499">
                <a:tc>
                  <a:txBody>
                    <a:bodyPr/>
                    <a:lstStyle/>
                    <a:p>
                      <a:pPr>
                        <a:buNone/>
                      </a:pPr>
                      <a:r>
                        <a:rPr lang="en-US" dirty="0" err="1"/>
                        <a:t>Is_read</a:t>
                      </a:r>
                      <a:endParaRPr lang="en-IN" dirty="0"/>
                    </a:p>
                  </a:txBody>
                  <a:tcPr anchor="ctr"/>
                </a:tc>
                <a:tc>
                  <a:txBody>
                    <a:bodyPr/>
                    <a:lstStyle/>
                    <a:p>
                      <a:pPr>
                        <a:buNone/>
                      </a:pPr>
                      <a:r>
                        <a:rPr lang="en-IN" dirty="0"/>
                        <a:t>INT</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txBody>
                  <a:tcPr anchor="ctr"/>
                </a:tc>
                <a:tc>
                  <a:txBody>
                    <a:bodyPr/>
                    <a:lstStyle/>
                    <a:p>
                      <a:pPr>
                        <a:buNone/>
                      </a:pPr>
                      <a:r>
                        <a:rPr lang="en-US" dirty="0"/>
                        <a:t>Notification seen or not</a:t>
                      </a:r>
                      <a:endParaRPr lang="en-IN" dirty="0"/>
                    </a:p>
                  </a:txBody>
                  <a:tcPr anchor="ctr"/>
                </a:tc>
                <a:extLst>
                  <a:ext uri="{0D108BD9-81ED-4DB2-BD59-A6C34878D82A}">
                    <a16:rowId xmlns:a16="http://schemas.microsoft.com/office/drawing/2014/main" val="328272867"/>
                  </a:ext>
                </a:extLst>
              </a:tr>
              <a:tr h="578859">
                <a:tc>
                  <a:txBody>
                    <a:bodyPr/>
                    <a:lstStyle/>
                    <a:p>
                      <a:pPr>
                        <a:buNone/>
                      </a:pPr>
                      <a:r>
                        <a:rPr lang="en-US" dirty="0" err="1"/>
                        <a:t>Credited_at</a:t>
                      </a:r>
                      <a:endParaRPr lang="en-IN" dirty="0"/>
                    </a:p>
                  </a:txBody>
                  <a:tcPr anchor="ctr"/>
                </a:tc>
                <a:tc>
                  <a:txBody>
                    <a:bodyPr/>
                    <a:lstStyle/>
                    <a:p>
                      <a:pPr>
                        <a:buNone/>
                      </a:pPr>
                      <a:r>
                        <a:rPr lang="en-US" dirty="0"/>
                        <a:t>D</a:t>
                      </a:r>
                      <a:r>
                        <a:rPr lang="en-IN" dirty="0"/>
                        <a:t>ATE</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txBody>
                  <a:tcPr anchor="ctr"/>
                </a:tc>
                <a:tc>
                  <a:txBody>
                    <a:bodyPr/>
                    <a:lstStyle/>
                    <a:p>
                      <a:pPr>
                        <a:buNone/>
                      </a:pPr>
                      <a:r>
                        <a:rPr lang="en-US" dirty="0"/>
                        <a:t>Notification date</a:t>
                      </a:r>
                      <a:endParaRPr lang="en-IN" dirty="0"/>
                    </a:p>
                  </a:txBody>
                  <a:tcPr anchor="ctr"/>
                </a:tc>
                <a:extLst>
                  <a:ext uri="{0D108BD9-81ED-4DB2-BD59-A6C34878D82A}">
                    <a16:rowId xmlns:a16="http://schemas.microsoft.com/office/drawing/2014/main" val="1853633334"/>
                  </a:ext>
                </a:extLst>
              </a:tr>
            </a:tbl>
          </a:graphicData>
        </a:graphic>
      </p:graphicFrame>
      <p:pic>
        <p:nvPicPr>
          <p:cNvPr id="25" name="object 3">
            <a:extLst>
              <a:ext uri="{FF2B5EF4-FFF2-40B4-BE49-F238E27FC236}">
                <a16:creationId xmlns:a16="http://schemas.microsoft.com/office/drawing/2014/main" id="{DA4959A8-F502-4B9B-0529-9B0DD3E1CCBB}"/>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33162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object 3">
            <a:extLst>
              <a:ext uri="{FF2B5EF4-FFF2-40B4-BE49-F238E27FC236}">
                <a16:creationId xmlns:a16="http://schemas.microsoft.com/office/drawing/2014/main" id="{95CFAB24-4597-DAB2-0EFD-ECC9B07A9C14}"/>
              </a:ext>
            </a:extLst>
          </p:cNvPr>
          <p:cNvGrpSpPr/>
          <p:nvPr/>
        </p:nvGrpSpPr>
        <p:grpSpPr>
          <a:xfrm>
            <a:off x="2590800" y="161097"/>
            <a:ext cx="5103904" cy="1198311"/>
            <a:chOff x="2648188" y="47148"/>
            <a:chExt cx="5103904" cy="1198311"/>
          </a:xfrm>
        </p:grpSpPr>
        <p:pic>
          <p:nvPicPr>
            <p:cNvPr id="10" name="object 4">
              <a:extLst>
                <a:ext uri="{FF2B5EF4-FFF2-40B4-BE49-F238E27FC236}">
                  <a16:creationId xmlns:a16="http://schemas.microsoft.com/office/drawing/2014/main" id="{916CF166-26F3-5D89-6ECB-771A684EDC25}"/>
                </a:ext>
              </a:extLst>
            </p:cNvPr>
            <p:cNvPicPr/>
            <p:nvPr/>
          </p:nvPicPr>
          <p:blipFill>
            <a:blip r:embed="rId2" cstate="print"/>
            <a:stretch>
              <a:fillRect/>
            </a:stretch>
          </p:blipFill>
          <p:spPr>
            <a:xfrm>
              <a:off x="2648188" y="47148"/>
              <a:ext cx="5103904" cy="1198311"/>
            </a:xfrm>
            <a:prstGeom prst="rect">
              <a:avLst/>
            </a:prstGeom>
          </p:spPr>
        </p:pic>
        <p:pic>
          <p:nvPicPr>
            <p:cNvPr id="11" name="object 5">
              <a:extLst>
                <a:ext uri="{FF2B5EF4-FFF2-40B4-BE49-F238E27FC236}">
                  <a16:creationId xmlns:a16="http://schemas.microsoft.com/office/drawing/2014/main" id="{134B242E-909D-3F91-8CCE-7C6B26367363}"/>
                </a:ext>
              </a:extLst>
            </p:cNvPr>
            <p:cNvPicPr/>
            <p:nvPr/>
          </p:nvPicPr>
          <p:blipFill>
            <a:blip r:embed="rId3" cstate="print"/>
            <a:stretch>
              <a:fillRect/>
            </a:stretch>
          </p:blipFill>
          <p:spPr>
            <a:xfrm>
              <a:off x="2703195" y="86439"/>
              <a:ext cx="4997767" cy="1092279"/>
            </a:xfrm>
            <a:prstGeom prst="rect">
              <a:avLst/>
            </a:prstGeom>
          </p:spPr>
        </p:pic>
        <p:pic>
          <p:nvPicPr>
            <p:cNvPr id="12" name="object 6">
              <a:extLst>
                <a:ext uri="{FF2B5EF4-FFF2-40B4-BE49-F238E27FC236}">
                  <a16:creationId xmlns:a16="http://schemas.microsoft.com/office/drawing/2014/main" id="{68C9FE3E-CEE3-2412-F1CC-F0BAA56F3038}"/>
                </a:ext>
              </a:extLst>
            </p:cNvPr>
            <p:cNvPicPr/>
            <p:nvPr/>
          </p:nvPicPr>
          <p:blipFill>
            <a:blip r:embed="rId4" cstate="print"/>
            <a:stretch>
              <a:fillRect/>
            </a:stretch>
          </p:blipFill>
          <p:spPr>
            <a:xfrm>
              <a:off x="2828925" y="243549"/>
              <a:ext cx="4585268" cy="522565"/>
            </a:xfrm>
            <a:prstGeom prst="rect">
              <a:avLst/>
            </a:prstGeom>
          </p:spPr>
        </p:pic>
        <p:sp>
          <p:nvSpPr>
            <p:cNvPr id="13" name="object 7">
              <a:extLst>
                <a:ext uri="{FF2B5EF4-FFF2-40B4-BE49-F238E27FC236}">
                  <a16:creationId xmlns:a16="http://schemas.microsoft.com/office/drawing/2014/main" id="{66C13703-BFEE-881D-292D-B7D41C53F0D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2" name="Title 1">
            <a:extLst>
              <a:ext uri="{FF2B5EF4-FFF2-40B4-BE49-F238E27FC236}">
                <a16:creationId xmlns:a16="http://schemas.microsoft.com/office/drawing/2014/main" id="{60CE90A3-81A4-C388-D45D-20B285504757}"/>
              </a:ext>
            </a:extLst>
          </p:cNvPr>
          <p:cNvSpPr>
            <a:spLocks noGrp="1"/>
          </p:cNvSpPr>
          <p:nvPr>
            <p:ph type="title"/>
          </p:nvPr>
        </p:nvSpPr>
        <p:spPr>
          <a:xfrm>
            <a:off x="3878467" y="377195"/>
            <a:ext cx="2528570" cy="369332"/>
          </a:xfrm>
        </p:spPr>
        <p:txBody>
          <a:bodyPr/>
          <a:lstStyle/>
          <a:p>
            <a:r>
              <a:rPr lang="en-IN" sz="2400" dirty="0">
                <a:solidFill>
                  <a:schemeClr val="bg1"/>
                </a:solidFill>
                <a:latin typeface="Times New Roman" panose="02020603050405020304" pitchFamily="18" charset="0"/>
                <a:cs typeface="Times New Roman" panose="02020603050405020304" pitchFamily="18" charset="0"/>
              </a:rPr>
              <a:t>Database Design</a:t>
            </a:r>
            <a:endParaRPr lang="en-IN" dirty="0"/>
          </a:p>
        </p:txBody>
      </p:sp>
      <p:sp>
        <p:nvSpPr>
          <p:cNvPr id="14" name="TextBox 13">
            <a:extLst>
              <a:ext uri="{FF2B5EF4-FFF2-40B4-BE49-F238E27FC236}">
                <a16:creationId xmlns:a16="http://schemas.microsoft.com/office/drawing/2014/main" id="{29C16FF1-55E1-8ACA-BB10-8B0D3C01DB8E}"/>
              </a:ext>
            </a:extLst>
          </p:cNvPr>
          <p:cNvSpPr txBox="1"/>
          <p:nvPr/>
        </p:nvSpPr>
        <p:spPr>
          <a:xfrm>
            <a:off x="325670" y="1054853"/>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5" name="TextBox 14">
            <a:extLst>
              <a:ext uri="{FF2B5EF4-FFF2-40B4-BE49-F238E27FC236}">
                <a16:creationId xmlns:a16="http://schemas.microsoft.com/office/drawing/2014/main" id="{319F5A24-9B52-9CCF-1560-2EB7C449419C}"/>
              </a:ext>
            </a:extLst>
          </p:cNvPr>
          <p:cNvSpPr txBox="1"/>
          <p:nvPr/>
        </p:nvSpPr>
        <p:spPr>
          <a:xfrm>
            <a:off x="547615" y="1534198"/>
            <a:ext cx="8366948" cy="923330"/>
          </a:xfrm>
          <a:prstGeom prst="rect">
            <a:avLst/>
          </a:prstGeom>
          <a:noFill/>
        </p:spPr>
        <p:txBody>
          <a:bodyPr wrap="square">
            <a:spAutoFit/>
          </a:bodyPr>
          <a:lstStyle/>
          <a:p>
            <a:r>
              <a:rPr lang="en-IN" b="1" dirty="0"/>
              <a:t>Revaluation Requests Table :</a:t>
            </a:r>
          </a:p>
          <a:p>
            <a:endParaRPr lang="en-IN" b="1" dirty="0"/>
          </a:p>
          <a:p>
            <a:r>
              <a:rPr lang="en-IN" dirty="0"/>
              <a:t>Stores the revaluation requests details like subject, </a:t>
            </a:r>
            <a:r>
              <a:rPr lang="en-IN" dirty="0" err="1"/>
              <a:t>date,etc</a:t>
            </a:r>
            <a:r>
              <a:rPr lang="en-IN" dirty="0"/>
              <a:t>.</a:t>
            </a:r>
            <a:endParaRPr lang="en-IN" b="1" dirty="0"/>
          </a:p>
        </p:txBody>
      </p:sp>
      <p:graphicFrame>
        <p:nvGraphicFramePr>
          <p:cNvPr id="17" name="Table 16">
            <a:extLst>
              <a:ext uri="{FF2B5EF4-FFF2-40B4-BE49-F238E27FC236}">
                <a16:creationId xmlns:a16="http://schemas.microsoft.com/office/drawing/2014/main" id="{EB484CEE-18A2-BE51-988B-C8C351E83FD2}"/>
              </a:ext>
            </a:extLst>
          </p:cNvPr>
          <p:cNvGraphicFramePr>
            <a:graphicFrameLocks noGrp="1"/>
          </p:cNvGraphicFramePr>
          <p:nvPr>
            <p:extLst>
              <p:ext uri="{D42A27DB-BD31-4B8C-83A1-F6EECF244321}">
                <p14:modId xmlns:p14="http://schemas.microsoft.com/office/powerpoint/2010/main" val="190678404"/>
              </p:ext>
            </p:extLst>
          </p:nvPr>
        </p:nvGraphicFramePr>
        <p:xfrm>
          <a:off x="1145696" y="2417708"/>
          <a:ext cx="7767008" cy="5268150"/>
        </p:xfrm>
        <a:graphic>
          <a:graphicData uri="http://schemas.openxmlformats.org/drawingml/2006/table">
            <a:tbl>
              <a:tblPr firstRow="1" bandRow="1">
                <a:tableStyleId>{5C22544A-7EE6-4342-B048-85BDC9FD1C3A}</a:tableStyleId>
              </a:tblPr>
              <a:tblGrid>
                <a:gridCol w="1941752">
                  <a:extLst>
                    <a:ext uri="{9D8B030D-6E8A-4147-A177-3AD203B41FA5}">
                      <a16:colId xmlns:a16="http://schemas.microsoft.com/office/drawing/2014/main" val="3202670111"/>
                    </a:ext>
                  </a:extLst>
                </a:gridCol>
                <a:gridCol w="1941752">
                  <a:extLst>
                    <a:ext uri="{9D8B030D-6E8A-4147-A177-3AD203B41FA5}">
                      <a16:colId xmlns:a16="http://schemas.microsoft.com/office/drawing/2014/main" val="4006832804"/>
                    </a:ext>
                  </a:extLst>
                </a:gridCol>
                <a:gridCol w="1941752">
                  <a:extLst>
                    <a:ext uri="{9D8B030D-6E8A-4147-A177-3AD203B41FA5}">
                      <a16:colId xmlns:a16="http://schemas.microsoft.com/office/drawing/2014/main" val="264281203"/>
                    </a:ext>
                  </a:extLst>
                </a:gridCol>
                <a:gridCol w="1941752">
                  <a:extLst>
                    <a:ext uri="{9D8B030D-6E8A-4147-A177-3AD203B41FA5}">
                      <a16:colId xmlns:a16="http://schemas.microsoft.com/office/drawing/2014/main" val="1629121304"/>
                    </a:ext>
                  </a:extLst>
                </a:gridCol>
              </a:tblGrid>
              <a:tr h="354652">
                <a:tc>
                  <a:txBody>
                    <a:bodyPr/>
                    <a:lstStyle/>
                    <a:p>
                      <a:pPr>
                        <a:buNone/>
                      </a:pPr>
                      <a:r>
                        <a:rPr lang="en-IN" dirty="0"/>
                        <a:t>Field Name</a:t>
                      </a:r>
                    </a:p>
                  </a:txBody>
                  <a:tcPr anchor="ctr"/>
                </a:tc>
                <a:tc>
                  <a:txBody>
                    <a:bodyPr/>
                    <a:lstStyle/>
                    <a:p>
                      <a:pPr>
                        <a:buNone/>
                      </a:pPr>
                      <a:r>
                        <a:rPr lang="en-IN" dirty="0"/>
                        <a:t>Data Type</a:t>
                      </a:r>
                    </a:p>
                  </a:txBody>
                  <a:tcPr anchor="ctr"/>
                </a:tc>
                <a:tc>
                  <a:txBody>
                    <a:bodyPr/>
                    <a:lstStyle/>
                    <a:p>
                      <a:pPr>
                        <a:buNone/>
                      </a:pPr>
                      <a:r>
                        <a:rPr lang="en-IN"/>
                        <a:t>Key</a:t>
                      </a:r>
                    </a:p>
                  </a:txBody>
                  <a:tcPr anchor="ctr"/>
                </a:tc>
                <a:tc>
                  <a:txBody>
                    <a:bodyPr/>
                    <a:lstStyle/>
                    <a:p>
                      <a:pPr>
                        <a:buNone/>
                      </a:pPr>
                      <a:r>
                        <a:rPr lang="en-IN"/>
                        <a:t>Description</a:t>
                      </a:r>
                    </a:p>
                  </a:txBody>
                  <a:tcPr anchor="ctr"/>
                </a:tc>
                <a:extLst>
                  <a:ext uri="{0D108BD9-81ED-4DB2-BD59-A6C34878D82A}">
                    <a16:rowId xmlns:a16="http://schemas.microsoft.com/office/drawing/2014/main" val="1572804198"/>
                  </a:ext>
                </a:extLst>
              </a:tr>
              <a:tr h="530955">
                <a:tc>
                  <a:txBody>
                    <a:bodyPr/>
                    <a:lstStyle/>
                    <a:p>
                      <a:pPr>
                        <a:buNone/>
                      </a:pPr>
                      <a:r>
                        <a:rPr lang="en-US" dirty="0"/>
                        <a:t>id</a:t>
                      </a:r>
                      <a:endParaRPr lang="en-IN" dirty="0"/>
                    </a:p>
                  </a:txBody>
                  <a:tcPr anchor="ctr"/>
                </a:tc>
                <a:tc>
                  <a:txBody>
                    <a:bodyPr/>
                    <a:lstStyle/>
                    <a:p>
                      <a:pPr>
                        <a:buNone/>
                      </a:pPr>
                      <a:r>
                        <a:rPr lang="en-US" dirty="0"/>
                        <a:t>INT</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P</a:t>
                      </a:r>
                      <a:r>
                        <a:rPr lang="en-IN" dirty="0" err="1"/>
                        <a:t>rimary</a:t>
                      </a:r>
                      <a:r>
                        <a:rPr lang="en-IN" dirty="0"/>
                        <a:t> Key</a:t>
                      </a:r>
                    </a:p>
                  </a:txBody>
                  <a:tcPr anchor="ctr"/>
                </a:tc>
                <a:tc>
                  <a:txBody>
                    <a:bodyPr/>
                    <a:lstStyle/>
                    <a:p>
                      <a:pPr>
                        <a:buNone/>
                      </a:pPr>
                      <a:r>
                        <a:rPr lang="en-US" dirty="0"/>
                        <a:t>Request id</a:t>
                      </a:r>
                      <a:endParaRPr lang="en-IN" dirty="0"/>
                    </a:p>
                  </a:txBody>
                  <a:tcPr anchor="ctr"/>
                </a:tc>
                <a:extLst>
                  <a:ext uri="{0D108BD9-81ED-4DB2-BD59-A6C34878D82A}">
                    <a16:rowId xmlns:a16="http://schemas.microsoft.com/office/drawing/2014/main" val="152173844"/>
                  </a:ext>
                </a:extLst>
              </a:tr>
              <a:tr h="354652">
                <a:tc>
                  <a:txBody>
                    <a:bodyPr/>
                    <a:lstStyle/>
                    <a:p>
                      <a:pPr>
                        <a:buNone/>
                      </a:pPr>
                      <a:r>
                        <a:rPr lang="en-US" dirty="0" err="1"/>
                        <a:t>Student_roll</a:t>
                      </a:r>
                      <a:endParaRPr lang="en-IN" dirty="0"/>
                    </a:p>
                  </a:txBody>
                  <a:tcPr anchor="ctr"/>
                </a:tc>
                <a:tc>
                  <a:txBody>
                    <a:bodyPr/>
                    <a:lstStyle/>
                    <a:p>
                      <a:pPr>
                        <a:buNone/>
                      </a:pPr>
                      <a:r>
                        <a:rPr lang="en-US" dirty="0"/>
                        <a:t>VARCHAR(20)</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txBody>
                  <a:tcPr anchor="ctr"/>
                </a:tc>
                <a:tc>
                  <a:txBody>
                    <a:bodyPr/>
                    <a:lstStyle/>
                    <a:p>
                      <a:pPr>
                        <a:buNone/>
                      </a:pPr>
                      <a:r>
                        <a:rPr lang="en-US" dirty="0"/>
                        <a:t>S</a:t>
                      </a:r>
                      <a:r>
                        <a:rPr lang="en-IN" dirty="0" err="1"/>
                        <a:t>tudent</a:t>
                      </a:r>
                      <a:r>
                        <a:rPr lang="en-IN" dirty="0"/>
                        <a:t> roll</a:t>
                      </a:r>
                    </a:p>
                  </a:txBody>
                  <a:tcPr anchor="ctr"/>
                </a:tc>
                <a:extLst>
                  <a:ext uri="{0D108BD9-81ED-4DB2-BD59-A6C34878D82A}">
                    <a16:rowId xmlns:a16="http://schemas.microsoft.com/office/drawing/2014/main" val="296586095"/>
                  </a:ext>
                </a:extLst>
              </a:tr>
              <a:tr h="354652">
                <a:tc>
                  <a:txBody>
                    <a:bodyPr/>
                    <a:lstStyle/>
                    <a:p>
                      <a:pPr>
                        <a:buNone/>
                      </a:pPr>
                      <a:r>
                        <a:rPr lang="en-US" dirty="0" err="1"/>
                        <a:t>Student_name</a:t>
                      </a:r>
                      <a:endParaRPr lang="en-IN" dirty="0"/>
                    </a:p>
                  </a:txBody>
                  <a:tcPr anchor="ctr"/>
                </a:tc>
                <a:tc>
                  <a:txBody>
                    <a:bodyPr/>
                    <a:lstStyle/>
                    <a:p>
                      <a:pPr>
                        <a:buNone/>
                      </a:pPr>
                      <a:r>
                        <a:rPr lang="en-US" dirty="0"/>
                        <a:t>VARCHAR(100)</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txBody>
                  <a:tcPr anchor="ctr"/>
                </a:tc>
                <a:tc>
                  <a:txBody>
                    <a:bodyPr/>
                    <a:lstStyle/>
                    <a:p>
                      <a:pPr>
                        <a:buNone/>
                      </a:pPr>
                      <a:r>
                        <a:rPr lang="en-US" dirty="0"/>
                        <a:t>Student </a:t>
                      </a:r>
                      <a:r>
                        <a:rPr lang="en-IN" dirty="0"/>
                        <a:t>name</a:t>
                      </a:r>
                    </a:p>
                  </a:txBody>
                  <a:tcPr anchor="ctr"/>
                </a:tc>
                <a:extLst>
                  <a:ext uri="{0D108BD9-81ED-4DB2-BD59-A6C34878D82A}">
                    <a16:rowId xmlns:a16="http://schemas.microsoft.com/office/drawing/2014/main" val="4055298792"/>
                  </a:ext>
                </a:extLst>
              </a:tr>
              <a:tr h="363208">
                <a:tc>
                  <a:txBody>
                    <a:bodyPr/>
                    <a:lstStyle/>
                    <a:p>
                      <a:pPr>
                        <a:buNone/>
                      </a:pPr>
                      <a:r>
                        <a:rPr lang="en-US" dirty="0"/>
                        <a:t>s</a:t>
                      </a:r>
                      <a:r>
                        <a:rPr lang="en-IN" dirty="0" err="1"/>
                        <a:t>ubject</a:t>
                      </a:r>
                      <a:endParaRPr lang="en-IN" dirty="0"/>
                    </a:p>
                  </a:txBody>
                  <a:tcPr anchor="ctr"/>
                </a:tc>
                <a:tc>
                  <a:txBody>
                    <a:bodyPr/>
                    <a:lstStyle/>
                    <a:p>
                      <a:pPr>
                        <a:buNone/>
                      </a:pPr>
                      <a:r>
                        <a:rPr lang="en-IN" dirty="0"/>
                        <a:t>VARCHAR(100)</a:t>
                      </a:r>
                    </a:p>
                  </a:txBody>
                  <a:tcPr anchor="ctr"/>
                </a:tc>
                <a:tc>
                  <a:txBody>
                    <a:bodyPr/>
                    <a:lstStyle/>
                    <a:p>
                      <a:pPr>
                        <a:buNone/>
                      </a:pPr>
                      <a:r>
                        <a:rPr lang="en-IN" dirty="0"/>
                        <a:t>—</a:t>
                      </a:r>
                    </a:p>
                  </a:txBody>
                  <a:tcPr anchor="ctr"/>
                </a:tc>
                <a:tc>
                  <a:txBody>
                    <a:bodyPr/>
                    <a:lstStyle/>
                    <a:p>
                      <a:pPr>
                        <a:buNone/>
                      </a:pPr>
                      <a:r>
                        <a:rPr lang="en-US" dirty="0"/>
                        <a:t>S</a:t>
                      </a:r>
                      <a:r>
                        <a:rPr lang="en-IN" dirty="0" err="1"/>
                        <a:t>ubject</a:t>
                      </a:r>
                      <a:r>
                        <a:rPr lang="en-IN" dirty="0"/>
                        <a:t> name</a:t>
                      </a:r>
                    </a:p>
                  </a:txBody>
                  <a:tcPr anchor="ctr"/>
                </a:tc>
                <a:extLst>
                  <a:ext uri="{0D108BD9-81ED-4DB2-BD59-A6C34878D82A}">
                    <a16:rowId xmlns:a16="http://schemas.microsoft.com/office/drawing/2014/main" val="3120277307"/>
                  </a:ext>
                </a:extLst>
              </a:tr>
              <a:tr h="530955">
                <a:tc>
                  <a:txBody>
                    <a:bodyPr/>
                    <a:lstStyle/>
                    <a:p>
                      <a:pPr>
                        <a:buNone/>
                      </a:pPr>
                      <a:r>
                        <a:rPr lang="en-US" dirty="0" err="1"/>
                        <a:t>Subject_code</a:t>
                      </a:r>
                      <a:endParaRPr lang="en-IN" dirty="0"/>
                    </a:p>
                  </a:txBody>
                  <a:tcPr anchor="ctr"/>
                </a:tc>
                <a:tc>
                  <a:txBody>
                    <a:bodyPr/>
                    <a:lstStyle/>
                    <a:p>
                      <a:pPr>
                        <a:buNone/>
                      </a:pPr>
                      <a:r>
                        <a:rPr lang="en-US" dirty="0"/>
                        <a:t>VARCHAR(20)</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txBody>
                  <a:tcPr anchor="ctr"/>
                </a:tc>
                <a:tc>
                  <a:txBody>
                    <a:bodyPr/>
                    <a:lstStyle/>
                    <a:p>
                      <a:pPr>
                        <a:buNone/>
                      </a:pPr>
                      <a:r>
                        <a:rPr lang="en-US" dirty="0"/>
                        <a:t>Subject code</a:t>
                      </a:r>
                      <a:endParaRPr lang="en-IN" dirty="0"/>
                    </a:p>
                  </a:txBody>
                  <a:tcPr anchor="ctr"/>
                </a:tc>
                <a:extLst>
                  <a:ext uri="{0D108BD9-81ED-4DB2-BD59-A6C34878D82A}">
                    <a16:rowId xmlns:a16="http://schemas.microsoft.com/office/drawing/2014/main" val="2366264044"/>
                  </a:ext>
                </a:extLst>
              </a:tr>
              <a:tr h="620642">
                <a:tc>
                  <a:txBody>
                    <a:bodyPr/>
                    <a:lstStyle/>
                    <a:p>
                      <a:pPr>
                        <a:buNone/>
                      </a:pPr>
                      <a:r>
                        <a:rPr lang="en-US" dirty="0"/>
                        <a:t>amount</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INT</a:t>
                      </a:r>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p>
                      <a:pPr>
                        <a:buNone/>
                      </a:pPr>
                      <a:endParaRPr lang="en-IN" dirty="0"/>
                    </a:p>
                  </a:txBody>
                  <a:tcPr anchor="ctr"/>
                </a:tc>
                <a:tc>
                  <a:txBody>
                    <a:bodyPr/>
                    <a:lstStyle/>
                    <a:p>
                      <a:pPr>
                        <a:buNone/>
                      </a:pPr>
                      <a:r>
                        <a:rPr lang="en-US" dirty="0"/>
                        <a:t>Amount to pay</a:t>
                      </a:r>
                      <a:endParaRPr lang="en-IN" dirty="0"/>
                    </a:p>
                  </a:txBody>
                  <a:tcPr anchor="ctr"/>
                </a:tc>
                <a:extLst>
                  <a:ext uri="{0D108BD9-81ED-4DB2-BD59-A6C34878D82A}">
                    <a16:rowId xmlns:a16="http://schemas.microsoft.com/office/drawing/2014/main" val="2977742331"/>
                  </a:ext>
                </a:extLst>
              </a:tr>
              <a:tr h="359989">
                <a:tc>
                  <a:txBody>
                    <a:bodyPr/>
                    <a:lstStyle/>
                    <a:p>
                      <a:pPr>
                        <a:buNone/>
                      </a:pPr>
                      <a:r>
                        <a:rPr lang="en-US" dirty="0" err="1"/>
                        <a:t>Payment_method</a:t>
                      </a:r>
                      <a:endParaRPr lang="en-IN" dirty="0"/>
                    </a:p>
                  </a:txBody>
                  <a:tcPr anchor="ctr"/>
                </a:tc>
                <a:tc>
                  <a:txBody>
                    <a:bodyPr/>
                    <a:lstStyle/>
                    <a:p>
                      <a:pPr>
                        <a:buNone/>
                      </a:pPr>
                      <a:r>
                        <a:rPr lang="en-US" dirty="0"/>
                        <a:t>VARCHAR(5)</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txBody>
                  <a:tcPr anchor="ctr"/>
                </a:tc>
                <a:tc>
                  <a:txBody>
                    <a:bodyPr/>
                    <a:lstStyle/>
                    <a:p>
                      <a:pPr>
                        <a:buNone/>
                      </a:pPr>
                      <a:r>
                        <a:rPr lang="en-US" dirty="0"/>
                        <a:t>Method of pay</a:t>
                      </a:r>
                      <a:endParaRPr lang="en-IN" dirty="0"/>
                    </a:p>
                  </a:txBody>
                  <a:tcPr anchor="ctr"/>
                </a:tc>
                <a:extLst>
                  <a:ext uri="{0D108BD9-81ED-4DB2-BD59-A6C34878D82A}">
                    <a16:rowId xmlns:a16="http://schemas.microsoft.com/office/drawing/2014/main" val="2379665087"/>
                  </a:ext>
                </a:extLst>
              </a:tr>
              <a:tr h="620642">
                <a:tc>
                  <a:txBody>
                    <a:bodyPr/>
                    <a:lstStyle/>
                    <a:p>
                      <a:pPr>
                        <a:buNone/>
                      </a:pPr>
                      <a:r>
                        <a:rPr lang="en-US" dirty="0"/>
                        <a:t>reason</a:t>
                      </a:r>
                      <a:endParaRPr lang="en-IN" dirty="0"/>
                    </a:p>
                  </a:txBody>
                  <a:tcPr anchor="ctr"/>
                </a:tc>
                <a:tc>
                  <a:txBody>
                    <a:bodyPr/>
                    <a:lstStyle/>
                    <a:p>
                      <a:pPr>
                        <a:buNone/>
                      </a:pPr>
                      <a:r>
                        <a:rPr lang="en-US" dirty="0"/>
                        <a:t>text</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endParaRPr lang="en-IN" dirty="0"/>
                    </a:p>
                  </a:txBody>
                  <a:tcPr anchor="ctr"/>
                </a:tc>
                <a:tc>
                  <a:txBody>
                    <a:bodyPr/>
                    <a:lstStyle/>
                    <a:p>
                      <a:pPr>
                        <a:buNone/>
                      </a:pPr>
                      <a:r>
                        <a:rPr lang="en-US" dirty="0"/>
                        <a:t>Reason for revaluation</a:t>
                      </a:r>
                      <a:endParaRPr lang="en-IN" dirty="0"/>
                    </a:p>
                  </a:txBody>
                  <a:tcPr anchor="ctr"/>
                </a:tc>
                <a:extLst>
                  <a:ext uri="{0D108BD9-81ED-4DB2-BD59-A6C34878D82A}">
                    <a16:rowId xmlns:a16="http://schemas.microsoft.com/office/drawing/2014/main" val="56084097"/>
                  </a:ext>
                </a:extLst>
              </a:tr>
              <a:tr h="354652">
                <a:tc>
                  <a:txBody>
                    <a:bodyPr/>
                    <a:lstStyle/>
                    <a:p>
                      <a:pPr>
                        <a:buNone/>
                      </a:pPr>
                      <a:r>
                        <a:rPr lang="en-US" dirty="0" err="1"/>
                        <a:t>Transaction_id</a:t>
                      </a:r>
                      <a:endParaRPr lang="en-IN" dirty="0"/>
                    </a:p>
                  </a:txBody>
                  <a:tcPr anchor="ctr"/>
                </a:tc>
                <a:tc>
                  <a:txBody>
                    <a:bodyPr/>
                    <a:lstStyle/>
                    <a:p>
                      <a:pPr>
                        <a:buNone/>
                      </a:pPr>
                      <a:r>
                        <a:rPr lang="en-US" dirty="0"/>
                        <a:t>VARCHAR(100)</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txBody>
                  <a:tcPr anchor="ctr"/>
                </a:tc>
                <a:tc>
                  <a:txBody>
                    <a:bodyPr/>
                    <a:lstStyle/>
                    <a:p>
                      <a:pPr>
                        <a:buNone/>
                      </a:pPr>
                      <a:r>
                        <a:rPr lang="en-US" dirty="0"/>
                        <a:t>Transaction id</a:t>
                      </a:r>
                      <a:endParaRPr lang="en-IN" dirty="0"/>
                    </a:p>
                  </a:txBody>
                  <a:tcPr anchor="ctr"/>
                </a:tc>
                <a:extLst>
                  <a:ext uri="{0D108BD9-81ED-4DB2-BD59-A6C34878D82A}">
                    <a16:rowId xmlns:a16="http://schemas.microsoft.com/office/drawing/2014/main" val="3769456240"/>
                  </a:ext>
                </a:extLst>
              </a:tr>
              <a:tr h="354652">
                <a:tc>
                  <a:txBody>
                    <a:bodyPr/>
                    <a:lstStyle/>
                    <a:p>
                      <a:pPr>
                        <a:buNone/>
                      </a:pPr>
                      <a:r>
                        <a:rPr lang="en-US" dirty="0"/>
                        <a:t>status</a:t>
                      </a:r>
                      <a:endParaRPr lang="en-IN" dirty="0"/>
                    </a:p>
                  </a:txBody>
                  <a:tcPr anchor="ctr"/>
                </a:tc>
                <a:tc>
                  <a:txBody>
                    <a:bodyPr/>
                    <a:lstStyle/>
                    <a:p>
                      <a:pPr>
                        <a:buNone/>
                      </a:pPr>
                      <a:r>
                        <a:rPr lang="en-US" dirty="0"/>
                        <a:t>VARCHAR(20)</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a:t>
                      </a:r>
                    </a:p>
                  </a:txBody>
                  <a:tcPr anchor="ctr"/>
                </a:tc>
                <a:tc>
                  <a:txBody>
                    <a:bodyPr/>
                    <a:lstStyle/>
                    <a:p>
                      <a:pPr>
                        <a:buNone/>
                      </a:pPr>
                      <a:r>
                        <a:rPr lang="en-US" dirty="0"/>
                        <a:t>Revaluation status</a:t>
                      </a:r>
                      <a:endParaRPr lang="en-IN" dirty="0"/>
                    </a:p>
                  </a:txBody>
                  <a:tcPr anchor="ctr"/>
                </a:tc>
                <a:extLst>
                  <a:ext uri="{0D108BD9-81ED-4DB2-BD59-A6C34878D82A}">
                    <a16:rowId xmlns:a16="http://schemas.microsoft.com/office/drawing/2014/main" val="1732199491"/>
                  </a:ext>
                </a:extLst>
              </a:tr>
              <a:tr h="354652">
                <a:tc>
                  <a:txBody>
                    <a:bodyPr/>
                    <a:lstStyle/>
                    <a:p>
                      <a:pPr>
                        <a:buNone/>
                      </a:pPr>
                      <a:r>
                        <a:rPr lang="en-US" dirty="0" err="1"/>
                        <a:t>Request_date</a:t>
                      </a:r>
                      <a:endParaRPr lang="en-IN" dirty="0"/>
                    </a:p>
                  </a:txBody>
                  <a:tcPr anchor="ctr"/>
                </a:tc>
                <a:tc>
                  <a:txBody>
                    <a:bodyPr/>
                    <a:lstStyle/>
                    <a:p>
                      <a:pPr>
                        <a:buNone/>
                      </a:pPr>
                      <a:r>
                        <a:rPr lang="en-US" dirty="0"/>
                        <a:t>DATE</a:t>
                      </a:r>
                      <a:endParaRPr lang="en-IN"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endParaRPr lang="en-IN" dirty="0"/>
                    </a:p>
                  </a:txBody>
                  <a:tcPr anchor="ctr"/>
                </a:tc>
                <a:tc>
                  <a:txBody>
                    <a:bodyPr/>
                    <a:lstStyle/>
                    <a:p>
                      <a:pPr>
                        <a:buNone/>
                      </a:pPr>
                      <a:r>
                        <a:rPr lang="en-US" dirty="0"/>
                        <a:t>Request date</a:t>
                      </a:r>
                      <a:endParaRPr lang="en-IN" dirty="0"/>
                    </a:p>
                  </a:txBody>
                  <a:tcPr anchor="ctr"/>
                </a:tc>
                <a:extLst>
                  <a:ext uri="{0D108BD9-81ED-4DB2-BD59-A6C34878D82A}">
                    <a16:rowId xmlns:a16="http://schemas.microsoft.com/office/drawing/2014/main" val="3723727431"/>
                  </a:ext>
                </a:extLst>
              </a:tr>
            </a:tbl>
          </a:graphicData>
        </a:graphic>
      </p:graphicFrame>
      <p:pic>
        <p:nvPicPr>
          <p:cNvPr id="18" name="object 3">
            <a:extLst>
              <a:ext uri="{FF2B5EF4-FFF2-40B4-BE49-F238E27FC236}">
                <a16:creationId xmlns:a16="http://schemas.microsoft.com/office/drawing/2014/main" id="{79655753-86BB-32DC-C8C4-DB313D88ADEC}"/>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069661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762000" y="910399"/>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1143000" y="1589604"/>
            <a:ext cx="8610599" cy="5324535"/>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Login Module :</a:t>
            </a:r>
          </a:p>
          <a:p>
            <a:pPr algn="just"/>
            <a:r>
              <a:rPr lang="en-US" sz="2000" dirty="0">
                <a:latin typeface="Times New Roman" panose="02020603050405020304" pitchFamily="18" charset="0"/>
                <a:cs typeface="Times New Roman" panose="02020603050405020304" pitchFamily="18" charset="0"/>
              </a:rPr>
              <a:t>	Validates admin/student credentials to ensure authorized access to the 	system.</a:t>
            </a:r>
          </a:p>
          <a:p>
            <a:pPr algn="just"/>
            <a:r>
              <a:rPr lang="en-US" sz="2000" b="1" dirty="0" err="1">
                <a:latin typeface="Times New Roman" panose="02020603050405020304" pitchFamily="18" charset="0"/>
                <a:cs typeface="Times New Roman" panose="02020603050405020304" pitchFamily="18" charset="0"/>
              </a:rPr>
              <a:t>DashBoard</a:t>
            </a:r>
            <a:r>
              <a:rPr lang="en-US" sz="2000" b="1" dirty="0">
                <a:latin typeface="Times New Roman" panose="02020603050405020304" pitchFamily="18" charset="0"/>
                <a:cs typeface="Times New Roman" panose="02020603050405020304" pitchFamily="18" charset="0"/>
              </a:rPr>
              <a:t> Module :</a:t>
            </a:r>
          </a:p>
          <a:p>
            <a:pPr algn="just"/>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Contains overall view of the results and the students.</a:t>
            </a:r>
          </a:p>
          <a:p>
            <a:pPr algn="just"/>
            <a:r>
              <a:rPr lang="en-US" sz="2000" b="1" dirty="0">
                <a:latin typeface="Times New Roman" panose="02020603050405020304" pitchFamily="18" charset="0"/>
                <a:cs typeface="Times New Roman" panose="02020603050405020304" pitchFamily="18" charset="0"/>
              </a:rPr>
              <a:t>Analytics Module :</a:t>
            </a:r>
          </a:p>
          <a:p>
            <a:pPr algn="just"/>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Contains the grades analytics and top performers.</a:t>
            </a:r>
          </a:p>
          <a:p>
            <a:pPr algn="just"/>
            <a:r>
              <a:rPr lang="en-US" sz="2000" b="1" dirty="0">
                <a:latin typeface="Times New Roman" panose="02020603050405020304" pitchFamily="18" charset="0"/>
                <a:cs typeface="Times New Roman" panose="02020603050405020304" pitchFamily="18" charset="0"/>
              </a:rPr>
              <a:t>Student Management Module :</a:t>
            </a:r>
          </a:p>
          <a:p>
            <a:pPr algn="just"/>
            <a:r>
              <a:rPr lang="en-US" sz="2000" dirty="0">
                <a:latin typeface="Times New Roman" panose="02020603050405020304" pitchFamily="18" charset="0"/>
                <a:cs typeface="Times New Roman" panose="02020603050405020304" pitchFamily="18" charset="0"/>
              </a:rPr>
              <a:t>	Enables viewing, updating, and deleting existing student records 	efficiently and adding new students.</a:t>
            </a:r>
          </a:p>
          <a:p>
            <a:pPr algn="just"/>
            <a:r>
              <a:rPr lang="en-US" sz="2000" b="1" dirty="0">
                <a:latin typeface="Times New Roman" panose="02020603050405020304" pitchFamily="18" charset="0"/>
                <a:cs typeface="Times New Roman" panose="02020603050405020304" pitchFamily="18" charset="0"/>
              </a:rPr>
              <a:t>Marks Management Module :</a:t>
            </a:r>
          </a:p>
          <a:p>
            <a:pPr algn="just"/>
            <a:r>
              <a:rPr lang="en-US" sz="2000" dirty="0">
                <a:latin typeface="Times New Roman" panose="02020603050405020304" pitchFamily="18" charset="0"/>
                <a:cs typeface="Times New Roman" panose="02020603050405020304" pitchFamily="18" charset="0"/>
              </a:rPr>
              <a:t>	Enables viewing, updating, and deleting existing marks records and 	adding new marks </a:t>
            </a:r>
            <a:r>
              <a:rPr lang="en-US" sz="2000" dirty="0" err="1">
                <a:latin typeface="Times New Roman" panose="02020603050405020304" pitchFamily="18" charset="0"/>
                <a:cs typeface="Times New Roman" panose="02020603050405020304" pitchFamily="18" charset="0"/>
              </a:rPr>
              <a:t>deatils</a:t>
            </a:r>
            <a:r>
              <a:rPr lang="en-US" sz="2000" dirty="0">
                <a:latin typeface="Times New Roman" panose="02020603050405020304" pitchFamily="18" charset="0"/>
                <a:cs typeface="Times New Roman" panose="02020603050405020304" pitchFamily="18" charset="0"/>
              </a:rPr>
              <a:t> 	efficiently.</a:t>
            </a:r>
          </a:p>
          <a:p>
            <a:pPr algn="just"/>
            <a:r>
              <a:rPr lang="en-US" sz="2000" b="1" dirty="0">
                <a:latin typeface="Times New Roman" panose="02020603050405020304" pitchFamily="18" charset="0"/>
                <a:cs typeface="Times New Roman" panose="02020603050405020304" pitchFamily="18" charset="0"/>
              </a:rPr>
              <a:t>Revaluation Module :</a:t>
            </a:r>
          </a:p>
          <a:p>
            <a:pPr algn="just"/>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Processes revaluation requests and payments</a:t>
            </a:r>
            <a:r>
              <a:rPr lang="en-US" sz="2000" dirty="0"/>
              <a:t>.</a:t>
            </a:r>
            <a:endParaRPr lang="en-US"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Student Result Module :</a:t>
            </a:r>
          </a:p>
          <a:p>
            <a:pPr algn="just"/>
            <a:r>
              <a:rPr lang="en-US" sz="2000" dirty="0">
                <a:latin typeface="Times New Roman" panose="02020603050405020304" pitchFamily="18" charset="0"/>
                <a:cs typeface="Times New Roman" panose="02020603050405020304" pitchFamily="18" charset="0"/>
              </a:rPr>
              <a:t>	displays the results and the analytics of results.</a:t>
            </a:r>
          </a:p>
        </p:txBody>
      </p:sp>
    </p:spTree>
    <p:extLst>
      <p:ext uri="{BB962C8B-B14F-4D97-AF65-F5344CB8AC3E}">
        <p14:creationId xmlns:p14="http://schemas.microsoft.com/office/powerpoint/2010/main" val="314495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647700" y="1449777"/>
            <a:ext cx="9105900" cy="1236557"/>
          </a:xfrm>
          <a:prstGeom prst="rect">
            <a:avLst/>
          </a:prstGeom>
          <a:noFill/>
        </p:spPr>
        <p:txBody>
          <a:bodyPr wrap="square">
            <a:spAutoFit/>
          </a:bodyPr>
          <a:lstStyle/>
          <a:p>
            <a:pPr>
              <a:lnSpc>
                <a:spcPct val="115000"/>
              </a:lnSpc>
              <a:spcAft>
                <a:spcPts val="800"/>
              </a:spcAft>
              <a:buNone/>
            </a:pP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Login </a:t>
            </a:r>
            <a:r>
              <a:rPr lang="en-IN" sz="2400" b="1" kern="100" dirty="0">
                <a:latin typeface="Times New Roman" panose="02020603050405020304" pitchFamily="18" charset="0"/>
                <a:ea typeface="Calibri" panose="020F0502020204030204" pitchFamily="34" charset="0"/>
                <a:cs typeface="Times New Roman" panose="02020603050405020304" pitchFamily="18" charset="0"/>
              </a:rPr>
              <a:t>Module</a:t>
            </a:r>
            <a:r>
              <a:rPr lang="en-IN" sz="24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800"/>
              </a:spcAft>
              <a:buNone/>
            </a:pPr>
            <a:r>
              <a:rPr lang="en-IN" sz="1800" b="1" u="none" strike="noStrike" kern="100" dirty="0">
                <a:effectLst/>
                <a:latin typeface="Times New Roman" panose="02020603050405020304" pitchFamily="18" charset="0"/>
                <a:ea typeface="Calibri" panose="020F0502020204030204" pitchFamily="34" charset="0"/>
                <a:cs typeface="Gautami" panose="020B0502040204020203" pitchFamily="34" charset="0"/>
              </a:rPr>
              <a:t> 	</a:t>
            </a:r>
            <a:r>
              <a:rPr lang="en-IN" sz="1800" kern="100" dirty="0">
                <a:effectLst/>
                <a:latin typeface="Times New Roman" panose="02020603050405020304" pitchFamily="18" charset="0"/>
                <a:ea typeface="Calibri" panose="020F0502020204030204" pitchFamily="34" charset="0"/>
                <a:cs typeface="Gautami" panose="020B0502040204020203" pitchFamily="34" charset="0"/>
              </a:rPr>
              <a:t>This window allows authorized users to enter their username and password to access the Employee Management System.</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pic>
        <p:nvPicPr>
          <p:cNvPr id="12" name="Picture 11">
            <a:extLst>
              <a:ext uri="{FF2B5EF4-FFF2-40B4-BE49-F238E27FC236}">
                <a16:creationId xmlns:a16="http://schemas.microsoft.com/office/drawing/2014/main" id="{6DE44CC9-7D48-A948-7737-4A6594FADC9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7700" y="2979863"/>
            <a:ext cx="8763000" cy="4582650"/>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40F58AF0-86BC-5074-3038-596694BF981A}"/>
              </a:ext>
            </a:extLst>
          </p:cNvPr>
          <p:cNvGrpSpPr/>
          <p:nvPr/>
        </p:nvGrpSpPr>
        <p:grpSpPr>
          <a:xfrm>
            <a:off x="2590800" y="161097"/>
            <a:ext cx="5103904" cy="1198311"/>
            <a:chOff x="2648188" y="47148"/>
            <a:chExt cx="5103904" cy="1198311"/>
          </a:xfrm>
        </p:grpSpPr>
        <p:pic>
          <p:nvPicPr>
            <p:cNvPr id="5" name="object 4">
              <a:extLst>
                <a:ext uri="{FF2B5EF4-FFF2-40B4-BE49-F238E27FC236}">
                  <a16:creationId xmlns:a16="http://schemas.microsoft.com/office/drawing/2014/main" id="{D4687D7F-A240-895D-D4D3-A277FA506A89}"/>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CD23FAE9-4FDE-8F6A-21E1-F702FDD44599}"/>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EE1BCBB-CDD7-1C94-D4DA-14949C31A103}"/>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A628458-AD5A-A105-DAB7-D35CEF6D634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a:extLst>
              <a:ext uri="{FF2B5EF4-FFF2-40B4-BE49-F238E27FC236}">
                <a16:creationId xmlns:a16="http://schemas.microsoft.com/office/drawing/2014/main" id="{1E731386-E44F-4D77-72AD-9A786C384025}"/>
              </a:ext>
            </a:extLst>
          </p:cNvPr>
          <p:cNvSpPr txBox="1">
            <a:spLocks/>
          </p:cNvSpPr>
          <p:nvPr/>
        </p:nvSpPr>
        <p:spPr>
          <a:xfrm>
            <a:off x="3945254" y="432593"/>
            <a:ext cx="2836546" cy="316753"/>
          </a:xfrm>
          <a:prstGeom prst="rect">
            <a:avLst/>
          </a:prstGeom>
        </p:spPr>
        <p:txBody>
          <a:bodyPr vert="horz" wrap="square" lIns="0" tIns="16510" rIns="0" bIns="0" rtlCol="0">
            <a:spAutoFit/>
          </a:bodyPr>
          <a:lstStyle>
            <a:lvl1pPr>
              <a:defRPr sz="2300" b="1" i="0">
                <a:solidFill>
                  <a:srgbClr val="375F92"/>
                </a:solidFill>
                <a:latin typeface="Palatino Linotype"/>
                <a:ea typeface="+mj-ea"/>
                <a:cs typeface="Palatino Linotype"/>
              </a:defRPr>
            </a:lvl1pPr>
          </a:lstStyle>
          <a:p>
            <a:pPr marL="12700">
              <a:spcBef>
                <a:spcPts val="130"/>
              </a:spcBef>
            </a:pPr>
            <a:r>
              <a:rPr lang="en-IN" sz="1950">
                <a:solidFill>
                  <a:schemeClr val="bg1"/>
                </a:solidFill>
                <a:latin typeface="Times New Roman" panose="02020603050405020304" pitchFamily="18" charset="0"/>
                <a:cs typeface="Times New Roman" panose="02020603050405020304" pitchFamily="18" charset="0"/>
              </a:rPr>
              <a:t>System Implementation</a:t>
            </a:r>
            <a:endParaRPr lang="en-IN" sz="1950" dirty="0">
              <a:solidFill>
                <a:schemeClr val="bg1"/>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ADEDDFBB-A6CB-34DA-AB59-3491543200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8852" y="2651159"/>
            <a:ext cx="9067800" cy="4724400"/>
          </a:xfrm>
          <a:prstGeom prst="rect">
            <a:avLst/>
          </a:prstGeom>
        </p:spPr>
      </p:pic>
      <p:pic>
        <p:nvPicPr>
          <p:cNvPr id="13" name="object 3">
            <a:extLst>
              <a:ext uri="{FF2B5EF4-FFF2-40B4-BE49-F238E27FC236}">
                <a16:creationId xmlns:a16="http://schemas.microsoft.com/office/drawing/2014/main" id="{5E1D7F58-9975-4790-ED05-02D74D4881E7}"/>
              </a:ext>
            </a:extLst>
          </p:cNvPr>
          <p:cNvPicPr/>
          <p:nvPr/>
        </p:nvPicPr>
        <p:blipFill>
          <a:blip r:embed="rId6" cstate="print"/>
          <a:stretch>
            <a:fillRect/>
          </a:stretch>
        </p:blipFill>
        <p:spPr>
          <a:xfrm>
            <a:off x="290750" y="204311"/>
            <a:ext cx="1163002" cy="424338"/>
          </a:xfrm>
          <a:prstGeom prst="rect">
            <a:avLst/>
          </a:prstGeom>
        </p:spPr>
      </p:pic>
      <p:sp>
        <p:nvSpPr>
          <p:cNvPr id="14" name="TextBox 13">
            <a:extLst>
              <a:ext uri="{FF2B5EF4-FFF2-40B4-BE49-F238E27FC236}">
                <a16:creationId xmlns:a16="http://schemas.microsoft.com/office/drawing/2014/main" id="{9AEE135A-A98E-8601-3F49-97343033A6E4}"/>
              </a:ext>
            </a:extLst>
          </p:cNvPr>
          <p:cNvSpPr txBox="1"/>
          <p:nvPr/>
        </p:nvSpPr>
        <p:spPr>
          <a:xfrm>
            <a:off x="608852" y="1331958"/>
            <a:ext cx="3164649"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Admin Login Module </a:t>
            </a:r>
            <a:r>
              <a:rPr lang="en-US" dirty="0"/>
              <a:t>:</a:t>
            </a:r>
            <a:endParaRPr lang="en-IN" dirty="0"/>
          </a:p>
        </p:txBody>
      </p:sp>
      <p:sp>
        <p:nvSpPr>
          <p:cNvPr id="2" name="TextBox 1">
            <a:extLst>
              <a:ext uri="{FF2B5EF4-FFF2-40B4-BE49-F238E27FC236}">
                <a16:creationId xmlns:a16="http://schemas.microsoft.com/office/drawing/2014/main" id="{51FC1714-5D71-6EB8-B100-47A618ADA3A9}"/>
              </a:ext>
            </a:extLst>
          </p:cNvPr>
          <p:cNvSpPr txBox="1"/>
          <p:nvPr/>
        </p:nvSpPr>
        <p:spPr>
          <a:xfrm>
            <a:off x="1295400" y="1920400"/>
            <a:ext cx="7366119" cy="369332"/>
          </a:xfrm>
          <a:prstGeom prst="rect">
            <a:avLst/>
          </a:prstGeom>
          <a:noFill/>
        </p:spPr>
        <p:txBody>
          <a:bodyPr wrap="none" rtlCol="0">
            <a:spAutoFit/>
          </a:bodyPr>
          <a:lstStyle/>
          <a:p>
            <a:r>
              <a:rPr lang="en-US" dirty="0"/>
              <a:t>This is the admin login interface in Student result management system</a:t>
            </a:r>
            <a:endParaRPr lang="en-IN" dirty="0"/>
          </a:p>
        </p:txBody>
      </p:sp>
    </p:spTree>
    <p:extLst>
      <p:ext uri="{BB962C8B-B14F-4D97-AF65-F5344CB8AC3E}">
        <p14:creationId xmlns:p14="http://schemas.microsoft.com/office/powerpoint/2010/main" val="179803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B8DE39BD-B38D-F038-C3C2-37F3F226C77D}"/>
              </a:ext>
            </a:extLst>
          </p:cNvPr>
          <p:cNvSpPr txBox="1"/>
          <p:nvPr/>
        </p:nvSpPr>
        <p:spPr>
          <a:xfrm>
            <a:off x="647700" y="1147186"/>
            <a:ext cx="8763000" cy="738664"/>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Admin Module :</a:t>
            </a:r>
            <a:endParaRPr lang="en-IN" sz="2400" dirty="0">
              <a:latin typeface="Times New Roman" panose="02020603050405020304" pitchFamily="18" charset="0"/>
              <a:cs typeface="Times New Roman" panose="02020603050405020304" pitchFamily="18" charset="0"/>
            </a:endParaRPr>
          </a:p>
          <a:p>
            <a:r>
              <a:rPr lang="en-IN" sz="1800" b="1" dirty="0"/>
              <a:t> 	</a:t>
            </a:r>
            <a:r>
              <a:rPr lang="en-IN" sz="1800" dirty="0">
                <a:latin typeface="Times New Roman" panose="02020603050405020304" pitchFamily="18" charset="0"/>
                <a:cs typeface="Times New Roman" panose="02020603050405020304" pitchFamily="18" charset="0"/>
              </a:rPr>
              <a:t>Provides all the functionalities of a admin. </a:t>
            </a:r>
          </a:p>
        </p:txBody>
      </p:sp>
      <p:pic>
        <p:nvPicPr>
          <p:cNvPr id="12" name="Picture 11">
            <a:extLst>
              <a:ext uri="{FF2B5EF4-FFF2-40B4-BE49-F238E27FC236}">
                <a16:creationId xmlns:a16="http://schemas.microsoft.com/office/drawing/2014/main" id="{A77CBE1A-DBBA-CED7-018B-DEC5EEE16A6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8852" y="3383736"/>
            <a:ext cx="9067800" cy="4038600"/>
          </a:xfrm>
          <a:prstGeom prst="rect">
            <a:avLst/>
          </a:prstGeom>
        </p:spPr>
      </p:pic>
      <p:sp>
        <p:nvSpPr>
          <p:cNvPr id="13" name="TextBox 12">
            <a:extLst>
              <a:ext uri="{FF2B5EF4-FFF2-40B4-BE49-F238E27FC236}">
                <a16:creationId xmlns:a16="http://schemas.microsoft.com/office/drawing/2014/main" id="{BD82F2E4-2BF5-2247-3FD9-93A9607F734F}"/>
              </a:ext>
            </a:extLst>
          </p:cNvPr>
          <p:cNvSpPr txBox="1"/>
          <p:nvPr/>
        </p:nvSpPr>
        <p:spPr>
          <a:xfrm>
            <a:off x="601418" y="1977713"/>
            <a:ext cx="2866490"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Dashboard Module </a:t>
            </a:r>
            <a:r>
              <a:rPr lang="en-US" dirty="0"/>
              <a:t>:</a:t>
            </a:r>
            <a:endParaRPr lang="en-IN" dirty="0"/>
          </a:p>
        </p:txBody>
      </p:sp>
      <p:sp>
        <p:nvSpPr>
          <p:cNvPr id="2" name="TextBox 1">
            <a:extLst>
              <a:ext uri="{FF2B5EF4-FFF2-40B4-BE49-F238E27FC236}">
                <a16:creationId xmlns:a16="http://schemas.microsoft.com/office/drawing/2014/main" id="{291B396F-ACB6-243C-EB03-95E6334D7BCB}"/>
              </a:ext>
            </a:extLst>
          </p:cNvPr>
          <p:cNvSpPr txBox="1"/>
          <p:nvPr/>
        </p:nvSpPr>
        <p:spPr>
          <a:xfrm>
            <a:off x="1037982" y="2601977"/>
            <a:ext cx="9020418" cy="646331"/>
          </a:xfrm>
          <a:prstGeom prst="rect">
            <a:avLst/>
          </a:prstGeom>
          <a:noFill/>
        </p:spPr>
        <p:txBody>
          <a:bodyPr wrap="none" rtlCol="0">
            <a:spAutoFit/>
          </a:bodyPr>
          <a:lstStyle/>
          <a:p>
            <a:r>
              <a:rPr lang="en-US" dirty="0"/>
              <a:t>This module shows all the statistics of the student results, students and the subjects</a:t>
            </a:r>
          </a:p>
          <a:p>
            <a:r>
              <a:rPr lang="en-US" dirty="0"/>
              <a:t>This module will give quick overview of the student results using visual representations.</a:t>
            </a:r>
            <a:endParaRPr lang="en-IN" dirty="0"/>
          </a:p>
        </p:txBody>
      </p:sp>
    </p:spTree>
    <p:extLst>
      <p:ext uri="{BB962C8B-B14F-4D97-AF65-F5344CB8AC3E}">
        <p14:creationId xmlns:p14="http://schemas.microsoft.com/office/powerpoint/2010/main" val="2972483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57EB8606-DA8F-A0FE-4763-BEE73C6F4774}"/>
              </a:ext>
            </a:extLst>
          </p:cNvPr>
          <p:cNvGrpSpPr/>
          <p:nvPr/>
        </p:nvGrpSpPr>
        <p:grpSpPr>
          <a:xfrm>
            <a:off x="2590800" y="161097"/>
            <a:ext cx="5103904" cy="1198311"/>
            <a:chOff x="2648188" y="47148"/>
            <a:chExt cx="5103904" cy="1198311"/>
          </a:xfrm>
        </p:grpSpPr>
        <p:pic>
          <p:nvPicPr>
            <p:cNvPr id="5" name="object 4">
              <a:extLst>
                <a:ext uri="{FF2B5EF4-FFF2-40B4-BE49-F238E27FC236}">
                  <a16:creationId xmlns:a16="http://schemas.microsoft.com/office/drawing/2014/main" id="{AB412B7F-C7DF-EC8C-0CB2-55D9AB77FC01}"/>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0CA908C7-EA34-FF3B-1FE0-69F55A8751B9}"/>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25E560E2-CE0D-AFBB-0BB5-7F191AAB076B}"/>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77D407F-36B4-9E5A-877D-7B866A5C6AD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a:extLst>
              <a:ext uri="{FF2B5EF4-FFF2-40B4-BE49-F238E27FC236}">
                <a16:creationId xmlns:a16="http://schemas.microsoft.com/office/drawing/2014/main" id="{EE4A136A-4983-F488-003C-994ABBA9DB61}"/>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sp>
        <p:nvSpPr>
          <p:cNvPr id="10" name="TextBox 9">
            <a:extLst>
              <a:ext uri="{FF2B5EF4-FFF2-40B4-BE49-F238E27FC236}">
                <a16:creationId xmlns:a16="http://schemas.microsoft.com/office/drawing/2014/main" id="{06B5CD7C-7114-9C8E-FEE7-F44E4AD1239C}"/>
              </a:ext>
            </a:extLst>
          </p:cNvPr>
          <p:cNvSpPr txBox="1"/>
          <p:nvPr/>
        </p:nvSpPr>
        <p:spPr>
          <a:xfrm>
            <a:off x="636125" y="1436581"/>
            <a:ext cx="2642070"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Analytics Module </a:t>
            </a:r>
            <a:r>
              <a:rPr lang="en-US" dirty="0"/>
              <a:t>:</a:t>
            </a:r>
            <a:endParaRPr lang="en-IN" dirty="0"/>
          </a:p>
        </p:txBody>
      </p:sp>
      <p:pic>
        <p:nvPicPr>
          <p:cNvPr id="12" name="Picture 11">
            <a:extLst>
              <a:ext uri="{FF2B5EF4-FFF2-40B4-BE49-F238E27FC236}">
                <a16:creationId xmlns:a16="http://schemas.microsoft.com/office/drawing/2014/main" id="{ED013B74-D3A7-18D1-996A-F324922DBF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2238" y="2789046"/>
            <a:ext cx="8953924" cy="4571477"/>
          </a:xfrm>
          <a:prstGeom prst="rect">
            <a:avLst/>
          </a:prstGeom>
        </p:spPr>
      </p:pic>
      <p:pic>
        <p:nvPicPr>
          <p:cNvPr id="13" name="object 3">
            <a:extLst>
              <a:ext uri="{FF2B5EF4-FFF2-40B4-BE49-F238E27FC236}">
                <a16:creationId xmlns:a16="http://schemas.microsoft.com/office/drawing/2014/main" id="{B1F508D2-FCC7-08E9-BB47-1A2A0AA86830}"/>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723D7894-7A0C-F47B-6122-F3EEFEDB8B14}"/>
              </a:ext>
            </a:extLst>
          </p:cNvPr>
          <p:cNvSpPr txBox="1"/>
          <p:nvPr/>
        </p:nvSpPr>
        <p:spPr>
          <a:xfrm>
            <a:off x="872251" y="1975419"/>
            <a:ext cx="8545929" cy="646331"/>
          </a:xfrm>
          <a:prstGeom prst="rect">
            <a:avLst/>
          </a:prstGeom>
          <a:noFill/>
        </p:spPr>
        <p:txBody>
          <a:bodyPr wrap="none" rtlCol="0">
            <a:spAutoFit/>
          </a:bodyPr>
          <a:lstStyle/>
          <a:p>
            <a:r>
              <a:rPr lang="en-US" dirty="0"/>
              <a:t>This module shows the analytics of the students results like the grading analytics</a:t>
            </a:r>
            <a:r>
              <a:rPr lang="en-IN" dirty="0"/>
              <a:t>, </a:t>
            </a:r>
          </a:p>
          <a:p>
            <a:r>
              <a:rPr lang="en-IN" dirty="0"/>
              <a:t>And top performers along with their average marks.</a:t>
            </a:r>
            <a:endParaRPr lang="en-US" dirty="0"/>
          </a:p>
        </p:txBody>
      </p:sp>
    </p:spTree>
    <p:extLst>
      <p:ext uri="{BB962C8B-B14F-4D97-AF65-F5344CB8AC3E}">
        <p14:creationId xmlns:p14="http://schemas.microsoft.com/office/powerpoint/2010/main" val="3030999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56DC681-F182-F45C-7977-FEFE6143AE6F}"/>
              </a:ext>
            </a:extLst>
          </p:cNvPr>
          <p:cNvGrpSpPr/>
          <p:nvPr/>
        </p:nvGrpSpPr>
        <p:grpSpPr>
          <a:xfrm>
            <a:off x="2590800" y="161097"/>
            <a:ext cx="5103904" cy="1198311"/>
            <a:chOff x="2648188" y="47148"/>
            <a:chExt cx="5103904" cy="1198311"/>
          </a:xfrm>
        </p:grpSpPr>
        <p:pic>
          <p:nvPicPr>
            <p:cNvPr id="5" name="object 4">
              <a:extLst>
                <a:ext uri="{FF2B5EF4-FFF2-40B4-BE49-F238E27FC236}">
                  <a16:creationId xmlns:a16="http://schemas.microsoft.com/office/drawing/2014/main" id="{C2A87CB7-FD8D-2FD0-5DE0-E360B5B85FD2}"/>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620AA37B-6497-EAB2-7DA7-8C3A7BEEFA48}"/>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8175841E-3DD6-D50D-0A0D-D9F38AA847C9}"/>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6DD148EF-7ED0-6497-0EFB-54D5CEA561E4}"/>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4" name="object 9">
            <a:extLst>
              <a:ext uri="{FF2B5EF4-FFF2-40B4-BE49-F238E27FC236}">
                <a16:creationId xmlns:a16="http://schemas.microsoft.com/office/drawing/2014/main" id="{3684F329-0C80-D8E2-FDA7-38E159E57487}"/>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sp>
        <p:nvSpPr>
          <p:cNvPr id="15" name="TextBox 14">
            <a:extLst>
              <a:ext uri="{FF2B5EF4-FFF2-40B4-BE49-F238E27FC236}">
                <a16:creationId xmlns:a16="http://schemas.microsoft.com/office/drawing/2014/main" id="{BA63EC39-02F7-2E32-C704-C41F8B88D03C}"/>
              </a:ext>
            </a:extLst>
          </p:cNvPr>
          <p:cNvSpPr txBox="1"/>
          <p:nvPr/>
        </p:nvSpPr>
        <p:spPr>
          <a:xfrm>
            <a:off x="304800" y="1359408"/>
            <a:ext cx="4241867"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Student Management Module </a:t>
            </a:r>
            <a:r>
              <a:rPr lang="en-US" dirty="0"/>
              <a:t>:</a:t>
            </a:r>
            <a:endParaRPr lang="en-IN" dirty="0"/>
          </a:p>
        </p:txBody>
      </p:sp>
      <p:pic>
        <p:nvPicPr>
          <p:cNvPr id="17" name="Picture 16">
            <a:extLst>
              <a:ext uri="{FF2B5EF4-FFF2-40B4-BE49-F238E27FC236}">
                <a16:creationId xmlns:a16="http://schemas.microsoft.com/office/drawing/2014/main" id="{83EC5D43-F05A-0220-0409-AFF7D250E5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8371" y="2961699"/>
            <a:ext cx="8991600" cy="4274682"/>
          </a:xfrm>
          <a:prstGeom prst="rect">
            <a:avLst/>
          </a:prstGeom>
        </p:spPr>
      </p:pic>
      <p:pic>
        <p:nvPicPr>
          <p:cNvPr id="18" name="object 3">
            <a:extLst>
              <a:ext uri="{FF2B5EF4-FFF2-40B4-BE49-F238E27FC236}">
                <a16:creationId xmlns:a16="http://schemas.microsoft.com/office/drawing/2014/main" id="{06FB40CB-9A5B-F6A0-5229-5A429373C519}"/>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4A8204C6-5A6C-A846-3380-9D22F728947E}"/>
              </a:ext>
            </a:extLst>
          </p:cNvPr>
          <p:cNvSpPr txBox="1"/>
          <p:nvPr/>
        </p:nvSpPr>
        <p:spPr>
          <a:xfrm>
            <a:off x="610320" y="1883554"/>
            <a:ext cx="9020418" cy="923330"/>
          </a:xfrm>
          <a:prstGeom prst="rect">
            <a:avLst/>
          </a:prstGeom>
          <a:noFill/>
        </p:spPr>
        <p:txBody>
          <a:bodyPr wrap="none" rtlCol="0">
            <a:spAutoFit/>
          </a:bodyPr>
          <a:lstStyle/>
          <a:p>
            <a:r>
              <a:rPr lang="en-US" dirty="0"/>
              <a:t>This module lets the admin to manage the students like adding a new student, deleting</a:t>
            </a:r>
          </a:p>
          <a:p>
            <a:r>
              <a:rPr lang="en-US" dirty="0"/>
              <a:t>a student, editing the student details and also provides a search option to search for a </a:t>
            </a:r>
          </a:p>
          <a:p>
            <a:r>
              <a:rPr lang="en-US" dirty="0"/>
              <a:t>Particular student. </a:t>
            </a:r>
            <a:endParaRPr lang="en-IN" dirty="0"/>
          </a:p>
        </p:txBody>
      </p:sp>
    </p:spTree>
    <p:extLst>
      <p:ext uri="{BB962C8B-B14F-4D97-AF65-F5344CB8AC3E}">
        <p14:creationId xmlns:p14="http://schemas.microsoft.com/office/powerpoint/2010/main" val="623458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F9B4DBF-8F68-6099-712A-B51731201E79}"/>
              </a:ext>
            </a:extLst>
          </p:cNvPr>
          <p:cNvGrpSpPr/>
          <p:nvPr/>
        </p:nvGrpSpPr>
        <p:grpSpPr>
          <a:xfrm>
            <a:off x="2590800" y="161097"/>
            <a:ext cx="5103904" cy="1198311"/>
            <a:chOff x="2648188" y="47148"/>
            <a:chExt cx="5103904" cy="1198311"/>
          </a:xfrm>
        </p:grpSpPr>
        <p:pic>
          <p:nvPicPr>
            <p:cNvPr id="5" name="object 4">
              <a:extLst>
                <a:ext uri="{FF2B5EF4-FFF2-40B4-BE49-F238E27FC236}">
                  <a16:creationId xmlns:a16="http://schemas.microsoft.com/office/drawing/2014/main" id="{D88D2F3A-52F9-2491-C6FE-9B1ADE10C113}"/>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79F21FBE-E538-93E1-8240-782DEB5559C3}"/>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4A3175B-51E5-2300-5063-6BC856748F44}"/>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61146AC2-D8B5-13BB-1A02-136A36B1529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a:extLst>
              <a:ext uri="{FF2B5EF4-FFF2-40B4-BE49-F238E27FC236}">
                <a16:creationId xmlns:a16="http://schemas.microsoft.com/office/drawing/2014/main" id="{E138A802-3BDA-B41F-2847-AF588FD13A9F}"/>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sp>
        <p:nvSpPr>
          <p:cNvPr id="10" name="TextBox 9">
            <a:extLst>
              <a:ext uri="{FF2B5EF4-FFF2-40B4-BE49-F238E27FC236}">
                <a16:creationId xmlns:a16="http://schemas.microsoft.com/office/drawing/2014/main" id="{18BC52DE-68A8-07F3-52AA-20B10B492AC4}"/>
              </a:ext>
            </a:extLst>
          </p:cNvPr>
          <p:cNvSpPr txBox="1"/>
          <p:nvPr/>
        </p:nvSpPr>
        <p:spPr>
          <a:xfrm>
            <a:off x="304800" y="1359408"/>
            <a:ext cx="3081293"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Add Student Module </a:t>
            </a:r>
            <a:r>
              <a:rPr lang="en-US" dirty="0"/>
              <a:t>:</a:t>
            </a:r>
            <a:endParaRPr lang="en-IN" dirty="0"/>
          </a:p>
        </p:txBody>
      </p:sp>
      <p:pic>
        <p:nvPicPr>
          <p:cNvPr id="12" name="Picture 11">
            <a:extLst>
              <a:ext uri="{FF2B5EF4-FFF2-40B4-BE49-F238E27FC236}">
                <a16:creationId xmlns:a16="http://schemas.microsoft.com/office/drawing/2014/main" id="{7C1966BC-1031-861E-F8FB-B0535753B4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7700" y="2927051"/>
            <a:ext cx="8763000" cy="4285297"/>
          </a:xfrm>
          <a:prstGeom prst="rect">
            <a:avLst/>
          </a:prstGeom>
        </p:spPr>
      </p:pic>
      <p:pic>
        <p:nvPicPr>
          <p:cNvPr id="13" name="object 3">
            <a:extLst>
              <a:ext uri="{FF2B5EF4-FFF2-40B4-BE49-F238E27FC236}">
                <a16:creationId xmlns:a16="http://schemas.microsoft.com/office/drawing/2014/main" id="{B0372B09-978B-AC70-0720-87EE8E0AA70A}"/>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E5835CFB-A3E9-948B-0EEC-5AABDB52734A}"/>
              </a:ext>
            </a:extLst>
          </p:cNvPr>
          <p:cNvSpPr txBox="1"/>
          <p:nvPr/>
        </p:nvSpPr>
        <p:spPr>
          <a:xfrm>
            <a:off x="638407" y="1926941"/>
            <a:ext cx="9084538" cy="646331"/>
          </a:xfrm>
          <a:prstGeom prst="rect">
            <a:avLst/>
          </a:prstGeom>
          <a:noFill/>
        </p:spPr>
        <p:txBody>
          <a:bodyPr wrap="none" rtlCol="0">
            <a:spAutoFit/>
          </a:bodyPr>
          <a:lstStyle/>
          <a:p>
            <a:r>
              <a:rPr lang="en-US" dirty="0"/>
              <a:t>This is a sub module of Student Management module which lets the admin( Faculty) to </a:t>
            </a:r>
          </a:p>
          <a:p>
            <a:r>
              <a:rPr lang="en-US" dirty="0"/>
              <a:t>Add a new student</a:t>
            </a:r>
            <a:endParaRPr lang="en-IN" dirty="0"/>
          </a:p>
        </p:txBody>
      </p:sp>
    </p:spTree>
    <p:extLst>
      <p:ext uri="{BB962C8B-B14F-4D97-AF65-F5344CB8AC3E}">
        <p14:creationId xmlns:p14="http://schemas.microsoft.com/office/powerpoint/2010/main" val="236054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14B1768-6496-E140-3F75-87C6C479C6FE}"/>
              </a:ext>
            </a:extLst>
          </p:cNvPr>
          <p:cNvGrpSpPr/>
          <p:nvPr/>
        </p:nvGrpSpPr>
        <p:grpSpPr>
          <a:xfrm>
            <a:off x="2590800" y="161097"/>
            <a:ext cx="5103904" cy="1198311"/>
            <a:chOff x="2648188" y="47148"/>
            <a:chExt cx="5103904" cy="1198311"/>
          </a:xfrm>
        </p:grpSpPr>
        <p:pic>
          <p:nvPicPr>
            <p:cNvPr id="5" name="object 4">
              <a:extLst>
                <a:ext uri="{FF2B5EF4-FFF2-40B4-BE49-F238E27FC236}">
                  <a16:creationId xmlns:a16="http://schemas.microsoft.com/office/drawing/2014/main" id="{02C8B52E-F860-8A3E-B503-229F3B5AF8D6}"/>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B22C8662-48F1-39C5-0BB7-48B1478A9414}"/>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ACE16418-6A96-4E39-7BB3-53F1A6414951}"/>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F14BDF30-5366-3E58-963B-C5AFA437320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a:extLst>
              <a:ext uri="{FF2B5EF4-FFF2-40B4-BE49-F238E27FC236}">
                <a16:creationId xmlns:a16="http://schemas.microsoft.com/office/drawing/2014/main" id="{73370884-C914-776F-FC1A-F3A58609E41F}"/>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sp>
        <p:nvSpPr>
          <p:cNvPr id="10" name="TextBox 9">
            <a:extLst>
              <a:ext uri="{FF2B5EF4-FFF2-40B4-BE49-F238E27FC236}">
                <a16:creationId xmlns:a16="http://schemas.microsoft.com/office/drawing/2014/main" id="{6AD767FC-B6E5-6D64-9763-E512B83EF357}"/>
              </a:ext>
            </a:extLst>
          </p:cNvPr>
          <p:cNvSpPr txBox="1"/>
          <p:nvPr/>
        </p:nvSpPr>
        <p:spPr>
          <a:xfrm>
            <a:off x="304800" y="1359408"/>
            <a:ext cx="4086375"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Marks Management Module </a:t>
            </a:r>
            <a:r>
              <a:rPr lang="en-US" dirty="0"/>
              <a:t>:</a:t>
            </a:r>
            <a:endParaRPr lang="en-IN" dirty="0"/>
          </a:p>
        </p:txBody>
      </p:sp>
      <p:pic>
        <p:nvPicPr>
          <p:cNvPr id="12" name="Picture 11">
            <a:extLst>
              <a:ext uri="{FF2B5EF4-FFF2-40B4-BE49-F238E27FC236}">
                <a16:creationId xmlns:a16="http://schemas.microsoft.com/office/drawing/2014/main" id="{09338B69-80E7-D49C-5FC1-73CAD9A03F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1083" y="2994187"/>
            <a:ext cx="9220200" cy="4435583"/>
          </a:xfrm>
          <a:prstGeom prst="rect">
            <a:avLst/>
          </a:prstGeom>
        </p:spPr>
      </p:pic>
      <p:pic>
        <p:nvPicPr>
          <p:cNvPr id="13" name="object 3">
            <a:extLst>
              <a:ext uri="{FF2B5EF4-FFF2-40B4-BE49-F238E27FC236}">
                <a16:creationId xmlns:a16="http://schemas.microsoft.com/office/drawing/2014/main" id="{5B03D522-B30E-7610-E76A-3556D686D2BA}"/>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E41A6C3A-9D05-7A31-EBE6-24B00C05250D}"/>
              </a:ext>
            </a:extLst>
          </p:cNvPr>
          <p:cNvSpPr txBox="1"/>
          <p:nvPr/>
        </p:nvSpPr>
        <p:spPr>
          <a:xfrm>
            <a:off x="657454" y="1926941"/>
            <a:ext cx="8507457" cy="923330"/>
          </a:xfrm>
          <a:prstGeom prst="rect">
            <a:avLst/>
          </a:prstGeom>
          <a:noFill/>
        </p:spPr>
        <p:txBody>
          <a:bodyPr wrap="none" rtlCol="0">
            <a:spAutoFit/>
          </a:bodyPr>
          <a:lstStyle/>
          <a:p>
            <a:r>
              <a:rPr lang="en-US" dirty="0"/>
              <a:t>This module lets the admin to manage the marks section like add the marks of a </a:t>
            </a:r>
          </a:p>
          <a:p>
            <a:r>
              <a:rPr lang="en-US" dirty="0"/>
              <a:t>Student, updating the marks, deleting and to view the marks of all the students at </a:t>
            </a:r>
          </a:p>
          <a:p>
            <a:r>
              <a:rPr lang="en-US" dirty="0"/>
              <a:t>One place</a:t>
            </a:r>
            <a:endParaRPr lang="en-IN" dirty="0"/>
          </a:p>
        </p:txBody>
      </p:sp>
    </p:spTree>
    <p:extLst>
      <p:ext uri="{BB962C8B-B14F-4D97-AF65-F5344CB8AC3E}">
        <p14:creationId xmlns:p14="http://schemas.microsoft.com/office/powerpoint/2010/main" val="3915344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BDD68EC3-8AE1-9ED6-B996-49ED672565A6}"/>
              </a:ext>
            </a:extLst>
          </p:cNvPr>
          <p:cNvGrpSpPr/>
          <p:nvPr/>
        </p:nvGrpSpPr>
        <p:grpSpPr>
          <a:xfrm>
            <a:off x="2590800" y="161097"/>
            <a:ext cx="5103904" cy="1198311"/>
            <a:chOff x="2648188" y="47148"/>
            <a:chExt cx="5103904" cy="1198311"/>
          </a:xfrm>
        </p:grpSpPr>
        <p:pic>
          <p:nvPicPr>
            <p:cNvPr id="5" name="object 4">
              <a:extLst>
                <a:ext uri="{FF2B5EF4-FFF2-40B4-BE49-F238E27FC236}">
                  <a16:creationId xmlns:a16="http://schemas.microsoft.com/office/drawing/2014/main" id="{97D25A77-0EF8-CBD2-C68E-045864F7F32A}"/>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32DDE2B0-02B4-2981-0536-DF6602E9D065}"/>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C863C22-962C-8B60-16B1-9BD1C36076F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152DE7BC-D338-7066-0FC6-2B0E87049D0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a:extLst>
              <a:ext uri="{FF2B5EF4-FFF2-40B4-BE49-F238E27FC236}">
                <a16:creationId xmlns:a16="http://schemas.microsoft.com/office/drawing/2014/main" id="{75109401-004F-6AC0-2267-93C260456AFC}"/>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sp>
        <p:nvSpPr>
          <p:cNvPr id="11" name="TextBox 10">
            <a:extLst>
              <a:ext uri="{FF2B5EF4-FFF2-40B4-BE49-F238E27FC236}">
                <a16:creationId xmlns:a16="http://schemas.microsoft.com/office/drawing/2014/main" id="{8E8E4CD0-5A52-97F3-C3FC-120109715A36}"/>
              </a:ext>
            </a:extLst>
          </p:cNvPr>
          <p:cNvSpPr txBox="1"/>
          <p:nvPr/>
        </p:nvSpPr>
        <p:spPr>
          <a:xfrm>
            <a:off x="304800" y="1359408"/>
            <a:ext cx="2925801"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Add Marks Module </a:t>
            </a:r>
            <a:r>
              <a:rPr lang="en-US" dirty="0"/>
              <a:t>:</a:t>
            </a:r>
            <a:endParaRPr lang="en-IN" dirty="0"/>
          </a:p>
        </p:txBody>
      </p:sp>
      <p:pic>
        <p:nvPicPr>
          <p:cNvPr id="13" name="Picture 12">
            <a:extLst>
              <a:ext uri="{FF2B5EF4-FFF2-40B4-BE49-F238E27FC236}">
                <a16:creationId xmlns:a16="http://schemas.microsoft.com/office/drawing/2014/main" id="{78A14C89-D4B3-7245-D95A-BEAC52C551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7991" y="2869309"/>
            <a:ext cx="8686800" cy="4267200"/>
          </a:xfrm>
          <a:prstGeom prst="rect">
            <a:avLst/>
          </a:prstGeom>
        </p:spPr>
      </p:pic>
      <p:pic>
        <p:nvPicPr>
          <p:cNvPr id="14" name="object 3">
            <a:extLst>
              <a:ext uri="{FF2B5EF4-FFF2-40B4-BE49-F238E27FC236}">
                <a16:creationId xmlns:a16="http://schemas.microsoft.com/office/drawing/2014/main" id="{8574A234-9F76-3034-6C01-EB655D9FE75F}"/>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31D66D3C-3976-BC6F-7271-E8FB18238F4B}"/>
              </a:ext>
            </a:extLst>
          </p:cNvPr>
          <p:cNvSpPr txBox="1"/>
          <p:nvPr/>
        </p:nvSpPr>
        <p:spPr>
          <a:xfrm>
            <a:off x="457200" y="1975859"/>
            <a:ext cx="8840882" cy="646331"/>
          </a:xfrm>
          <a:prstGeom prst="rect">
            <a:avLst/>
          </a:prstGeom>
          <a:noFill/>
        </p:spPr>
        <p:txBody>
          <a:bodyPr wrap="none" rtlCol="0">
            <a:spAutoFit/>
          </a:bodyPr>
          <a:lstStyle/>
          <a:p>
            <a:r>
              <a:rPr lang="en-US" dirty="0"/>
              <a:t>This is a sub module of Marks Management module which lets the admin( Faculty to </a:t>
            </a:r>
          </a:p>
          <a:p>
            <a:r>
              <a:rPr lang="en-US" dirty="0"/>
              <a:t>Add the marks of a subject to a student</a:t>
            </a:r>
            <a:endParaRPr lang="en-IN" dirty="0"/>
          </a:p>
        </p:txBody>
      </p:sp>
    </p:spTree>
    <p:extLst>
      <p:ext uri="{BB962C8B-B14F-4D97-AF65-F5344CB8AC3E}">
        <p14:creationId xmlns:p14="http://schemas.microsoft.com/office/powerpoint/2010/main" val="45089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37EBEB28-FD65-67A0-1417-8B9B963B6B4A}"/>
              </a:ext>
            </a:extLst>
          </p:cNvPr>
          <p:cNvGrpSpPr/>
          <p:nvPr/>
        </p:nvGrpSpPr>
        <p:grpSpPr>
          <a:xfrm>
            <a:off x="2590800" y="161097"/>
            <a:ext cx="5103904" cy="1198311"/>
            <a:chOff x="2648188" y="47148"/>
            <a:chExt cx="5103904" cy="1198311"/>
          </a:xfrm>
        </p:grpSpPr>
        <p:pic>
          <p:nvPicPr>
            <p:cNvPr id="5" name="object 4">
              <a:extLst>
                <a:ext uri="{FF2B5EF4-FFF2-40B4-BE49-F238E27FC236}">
                  <a16:creationId xmlns:a16="http://schemas.microsoft.com/office/drawing/2014/main" id="{8B00220D-4A7A-17D8-5073-7B72846F4B39}"/>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9D25A6AB-6B47-78C4-3801-0D886D129ECF}"/>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83F55175-FFF9-2BFC-0037-34A6C885EF58}"/>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8D7CF814-34F0-20A4-6AB4-02769D6E283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a:extLst>
              <a:ext uri="{FF2B5EF4-FFF2-40B4-BE49-F238E27FC236}">
                <a16:creationId xmlns:a16="http://schemas.microsoft.com/office/drawing/2014/main" id="{A4F4803B-C054-8FE4-7476-BABF5249D634}"/>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sp>
        <p:nvSpPr>
          <p:cNvPr id="10" name="TextBox 9">
            <a:extLst>
              <a:ext uri="{FF2B5EF4-FFF2-40B4-BE49-F238E27FC236}">
                <a16:creationId xmlns:a16="http://schemas.microsoft.com/office/drawing/2014/main" id="{30300A37-DA82-6567-24AE-CFD25315C969}"/>
              </a:ext>
            </a:extLst>
          </p:cNvPr>
          <p:cNvSpPr txBox="1"/>
          <p:nvPr/>
        </p:nvSpPr>
        <p:spPr>
          <a:xfrm>
            <a:off x="304800" y="1359408"/>
            <a:ext cx="3021981"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Revaluation Module </a:t>
            </a:r>
            <a:r>
              <a:rPr lang="en-US" sz="2400" dirty="0"/>
              <a:t>:</a:t>
            </a:r>
            <a:endParaRPr lang="en-IN" sz="2400" dirty="0"/>
          </a:p>
        </p:txBody>
      </p:sp>
      <p:pic>
        <p:nvPicPr>
          <p:cNvPr id="12" name="Picture 11">
            <a:extLst>
              <a:ext uri="{FF2B5EF4-FFF2-40B4-BE49-F238E27FC236}">
                <a16:creationId xmlns:a16="http://schemas.microsoft.com/office/drawing/2014/main" id="{E10EFD1F-39D9-9E8C-4849-798125CA4D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5174" y="2870212"/>
            <a:ext cx="9296400" cy="4454999"/>
          </a:xfrm>
          <a:prstGeom prst="rect">
            <a:avLst/>
          </a:prstGeom>
        </p:spPr>
      </p:pic>
      <p:pic>
        <p:nvPicPr>
          <p:cNvPr id="13" name="object 3">
            <a:extLst>
              <a:ext uri="{FF2B5EF4-FFF2-40B4-BE49-F238E27FC236}">
                <a16:creationId xmlns:a16="http://schemas.microsoft.com/office/drawing/2014/main" id="{608BA736-65DB-3A73-9DE6-CBB532D32FC4}"/>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360BEA6C-5879-1F77-D2FC-49CB640B1BEC}"/>
              </a:ext>
            </a:extLst>
          </p:cNvPr>
          <p:cNvSpPr txBox="1"/>
          <p:nvPr/>
        </p:nvSpPr>
        <p:spPr>
          <a:xfrm>
            <a:off x="755005" y="1931136"/>
            <a:ext cx="9264075" cy="646331"/>
          </a:xfrm>
          <a:prstGeom prst="rect">
            <a:avLst/>
          </a:prstGeom>
          <a:noFill/>
        </p:spPr>
        <p:txBody>
          <a:bodyPr wrap="none" rtlCol="0">
            <a:spAutoFit/>
          </a:bodyPr>
          <a:lstStyle/>
          <a:p>
            <a:r>
              <a:rPr lang="en-US" dirty="0"/>
              <a:t>Revaluation module of Admin shows all the revaluation requests students have applied</a:t>
            </a:r>
          </a:p>
          <a:p>
            <a:r>
              <a:rPr lang="en-US" dirty="0"/>
              <a:t>and the mini statistics about the total requests approved, pending, rejected.</a:t>
            </a:r>
            <a:endParaRPr lang="en-IN" dirty="0"/>
          </a:p>
        </p:txBody>
      </p:sp>
    </p:spTree>
    <p:extLst>
      <p:ext uri="{BB962C8B-B14F-4D97-AF65-F5344CB8AC3E}">
        <p14:creationId xmlns:p14="http://schemas.microsoft.com/office/powerpoint/2010/main" val="20623942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603EE3B9-0F67-05FA-708E-E8BC6D6FD48E}"/>
              </a:ext>
            </a:extLst>
          </p:cNvPr>
          <p:cNvGrpSpPr/>
          <p:nvPr/>
        </p:nvGrpSpPr>
        <p:grpSpPr>
          <a:xfrm>
            <a:off x="2590800" y="161097"/>
            <a:ext cx="5103904" cy="1198311"/>
            <a:chOff x="2648188" y="47148"/>
            <a:chExt cx="5103904" cy="1198311"/>
          </a:xfrm>
        </p:grpSpPr>
        <p:pic>
          <p:nvPicPr>
            <p:cNvPr id="5" name="object 4">
              <a:extLst>
                <a:ext uri="{FF2B5EF4-FFF2-40B4-BE49-F238E27FC236}">
                  <a16:creationId xmlns:a16="http://schemas.microsoft.com/office/drawing/2014/main" id="{92770E79-5399-C467-EC3D-C8101CC19FC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04A9CB1-9D4B-D43F-1C38-EABBD01B89D7}"/>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ECFEB391-34A3-1842-448C-04A4F6E42DA7}"/>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DAEB3AFE-F513-3054-4516-4752DAE710D1}"/>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a:extLst>
              <a:ext uri="{FF2B5EF4-FFF2-40B4-BE49-F238E27FC236}">
                <a16:creationId xmlns:a16="http://schemas.microsoft.com/office/drawing/2014/main" id="{AE39EC2F-A808-C656-6175-BF0016A3D263}"/>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sp>
        <p:nvSpPr>
          <p:cNvPr id="11" name="TextBox 10">
            <a:extLst>
              <a:ext uri="{FF2B5EF4-FFF2-40B4-BE49-F238E27FC236}">
                <a16:creationId xmlns:a16="http://schemas.microsoft.com/office/drawing/2014/main" id="{F02E9CB9-72CE-F797-506D-6DA5949EFCB2}"/>
              </a:ext>
            </a:extLst>
          </p:cNvPr>
          <p:cNvSpPr txBox="1"/>
          <p:nvPr/>
        </p:nvSpPr>
        <p:spPr>
          <a:xfrm>
            <a:off x="304800" y="1359408"/>
            <a:ext cx="3284874"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Student Login Module </a:t>
            </a:r>
            <a:r>
              <a:rPr lang="en-US" dirty="0"/>
              <a:t>:</a:t>
            </a:r>
            <a:endParaRPr lang="en-IN" dirty="0"/>
          </a:p>
        </p:txBody>
      </p:sp>
      <p:pic>
        <p:nvPicPr>
          <p:cNvPr id="13" name="Picture 12">
            <a:extLst>
              <a:ext uri="{FF2B5EF4-FFF2-40B4-BE49-F238E27FC236}">
                <a16:creationId xmlns:a16="http://schemas.microsoft.com/office/drawing/2014/main" id="{4543E99B-DD9C-0201-582F-19E6A381B1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0500" y="2895600"/>
            <a:ext cx="9677400" cy="4331856"/>
          </a:xfrm>
          <a:prstGeom prst="rect">
            <a:avLst/>
          </a:prstGeom>
        </p:spPr>
      </p:pic>
      <p:pic>
        <p:nvPicPr>
          <p:cNvPr id="14" name="object 3">
            <a:extLst>
              <a:ext uri="{FF2B5EF4-FFF2-40B4-BE49-F238E27FC236}">
                <a16:creationId xmlns:a16="http://schemas.microsoft.com/office/drawing/2014/main" id="{E205C981-94EA-1C91-48DB-83A379A877D0}"/>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C07AE045-03B1-2D87-8E25-CE7097052082}"/>
              </a:ext>
            </a:extLst>
          </p:cNvPr>
          <p:cNvSpPr txBox="1"/>
          <p:nvPr/>
        </p:nvSpPr>
        <p:spPr>
          <a:xfrm>
            <a:off x="1457469" y="2023426"/>
            <a:ext cx="4083169" cy="369332"/>
          </a:xfrm>
          <a:prstGeom prst="rect">
            <a:avLst/>
          </a:prstGeom>
          <a:noFill/>
        </p:spPr>
        <p:txBody>
          <a:bodyPr wrap="none" rtlCol="0">
            <a:spAutoFit/>
          </a:bodyPr>
          <a:lstStyle/>
          <a:p>
            <a:r>
              <a:rPr lang="en-US" dirty="0"/>
              <a:t>This is the login Interface of a student </a:t>
            </a:r>
            <a:endParaRPr lang="en-IN" dirty="0"/>
          </a:p>
        </p:txBody>
      </p:sp>
    </p:spTree>
    <p:extLst>
      <p:ext uri="{BB962C8B-B14F-4D97-AF65-F5344CB8AC3E}">
        <p14:creationId xmlns:p14="http://schemas.microsoft.com/office/powerpoint/2010/main" val="21771121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8DF2F09-BB5C-DBB5-3F8B-C3A88C81B453}"/>
              </a:ext>
            </a:extLst>
          </p:cNvPr>
          <p:cNvGrpSpPr/>
          <p:nvPr/>
        </p:nvGrpSpPr>
        <p:grpSpPr>
          <a:xfrm>
            <a:off x="2590800" y="161097"/>
            <a:ext cx="5103904" cy="1198311"/>
            <a:chOff x="2648188" y="47148"/>
            <a:chExt cx="5103904" cy="1198311"/>
          </a:xfrm>
        </p:grpSpPr>
        <p:pic>
          <p:nvPicPr>
            <p:cNvPr id="5" name="object 4">
              <a:extLst>
                <a:ext uri="{FF2B5EF4-FFF2-40B4-BE49-F238E27FC236}">
                  <a16:creationId xmlns:a16="http://schemas.microsoft.com/office/drawing/2014/main" id="{3D82DD87-EBBD-B7C1-DFCC-427DFD1FC743}"/>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6FA797E3-0705-C116-FCBF-CA4F8B5896CB}"/>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C210A46-89EB-E5A0-6DF6-0CE4DE17B683}"/>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8E61F390-DE7F-CC68-6278-8620076BD35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a:extLst>
              <a:ext uri="{FF2B5EF4-FFF2-40B4-BE49-F238E27FC236}">
                <a16:creationId xmlns:a16="http://schemas.microsoft.com/office/drawing/2014/main" id="{EB955D02-E9DA-67D0-B918-7AB6DAD17153}"/>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sp>
        <p:nvSpPr>
          <p:cNvPr id="10" name="TextBox 9">
            <a:extLst>
              <a:ext uri="{FF2B5EF4-FFF2-40B4-BE49-F238E27FC236}">
                <a16:creationId xmlns:a16="http://schemas.microsoft.com/office/drawing/2014/main" id="{A68C8BA8-5BB1-7216-E527-ABFFB82370BA}"/>
              </a:ext>
            </a:extLst>
          </p:cNvPr>
          <p:cNvSpPr txBox="1"/>
          <p:nvPr/>
        </p:nvSpPr>
        <p:spPr>
          <a:xfrm>
            <a:off x="304800" y="1359408"/>
            <a:ext cx="3353803"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Student Result Module </a:t>
            </a:r>
            <a:r>
              <a:rPr lang="en-US" dirty="0"/>
              <a:t>:</a:t>
            </a:r>
            <a:endParaRPr lang="en-IN" dirty="0"/>
          </a:p>
        </p:txBody>
      </p:sp>
      <p:pic>
        <p:nvPicPr>
          <p:cNvPr id="12" name="Picture 11">
            <a:extLst>
              <a:ext uri="{FF2B5EF4-FFF2-40B4-BE49-F238E27FC236}">
                <a16:creationId xmlns:a16="http://schemas.microsoft.com/office/drawing/2014/main" id="{CCC358B3-92FC-2776-D866-1492FB9E0A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507" y="2927051"/>
            <a:ext cx="9448800" cy="4366431"/>
          </a:xfrm>
          <a:prstGeom prst="rect">
            <a:avLst/>
          </a:prstGeom>
        </p:spPr>
      </p:pic>
      <p:pic>
        <p:nvPicPr>
          <p:cNvPr id="13" name="object 3">
            <a:extLst>
              <a:ext uri="{FF2B5EF4-FFF2-40B4-BE49-F238E27FC236}">
                <a16:creationId xmlns:a16="http://schemas.microsoft.com/office/drawing/2014/main" id="{19F9733A-0BB0-BCA9-E5DC-B69DF01D6FF8}"/>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74187EE0-A4D9-75FD-003D-D12686DF8CAF}"/>
              </a:ext>
            </a:extLst>
          </p:cNvPr>
          <p:cNvSpPr txBox="1"/>
          <p:nvPr/>
        </p:nvSpPr>
        <p:spPr>
          <a:xfrm>
            <a:off x="690251" y="1903954"/>
            <a:ext cx="8905002" cy="646331"/>
          </a:xfrm>
          <a:prstGeom prst="rect">
            <a:avLst/>
          </a:prstGeom>
          <a:noFill/>
        </p:spPr>
        <p:txBody>
          <a:bodyPr wrap="none" rtlCol="0">
            <a:spAutoFit/>
          </a:bodyPr>
          <a:lstStyle/>
          <a:p>
            <a:r>
              <a:rPr lang="en-US" dirty="0"/>
              <a:t>This is the student home dashboard where the actual student results are visible along</a:t>
            </a:r>
          </a:p>
          <a:p>
            <a:r>
              <a:rPr lang="en-US" dirty="0"/>
              <a:t>With the visualizations of the results.</a:t>
            </a:r>
            <a:endParaRPr lang="en-IN" dirty="0"/>
          </a:p>
        </p:txBody>
      </p:sp>
    </p:spTree>
    <p:extLst>
      <p:ext uri="{BB962C8B-B14F-4D97-AF65-F5344CB8AC3E}">
        <p14:creationId xmlns:p14="http://schemas.microsoft.com/office/powerpoint/2010/main" val="3044564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5D9820D9-0193-F5E6-9F5F-AE49CD2CD2A1}"/>
              </a:ext>
            </a:extLst>
          </p:cNvPr>
          <p:cNvGrpSpPr/>
          <p:nvPr/>
        </p:nvGrpSpPr>
        <p:grpSpPr>
          <a:xfrm>
            <a:off x="2590800" y="161097"/>
            <a:ext cx="5103904" cy="1198311"/>
            <a:chOff x="2648188" y="47148"/>
            <a:chExt cx="5103904" cy="1198311"/>
          </a:xfrm>
        </p:grpSpPr>
        <p:pic>
          <p:nvPicPr>
            <p:cNvPr id="5" name="object 4">
              <a:extLst>
                <a:ext uri="{FF2B5EF4-FFF2-40B4-BE49-F238E27FC236}">
                  <a16:creationId xmlns:a16="http://schemas.microsoft.com/office/drawing/2014/main" id="{459E890A-6485-32A8-7B9D-394F6FBEFCDF}"/>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AA7A550D-8783-BA83-1FF5-4BFFE114BF89}"/>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09798261-1F9F-7371-D5E5-599990E09B6E}"/>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E50CC380-E142-9BE9-2855-5DDE62F2856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a:extLst>
              <a:ext uri="{FF2B5EF4-FFF2-40B4-BE49-F238E27FC236}">
                <a16:creationId xmlns:a16="http://schemas.microsoft.com/office/drawing/2014/main" id="{D947A45D-FB43-8385-EAC6-C3391B35F542}"/>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sp>
        <p:nvSpPr>
          <p:cNvPr id="10" name="TextBox 9">
            <a:extLst>
              <a:ext uri="{FF2B5EF4-FFF2-40B4-BE49-F238E27FC236}">
                <a16:creationId xmlns:a16="http://schemas.microsoft.com/office/drawing/2014/main" id="{A81B8252-32B7-6C7D-0F44-C7E8D9833F24}"/>
              </a:ext>
            </a:extLst>
          </p:cNvPr>
          <p:cNvSpPr txBox="1"/>
          <p:nvPr/>
        </p:nvSpPr>
        <p:spPr>
          <a:xfrm>
            <a:off x="304800" y="1359408"/>
            <a:ext cx="4616970"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Revaluation Application Module </a:t>
            </a:r>
            <a:r>
              <a:rPr lang="en-US" dirty="0"/>
              <a:t>:</a:t>
            </a:r>
            <a:endParaRPr lang="en-IN" dirty="0"/>
          </a:p>
        </p:txBody>
      </p:sp>
      <p:pic>
        <p:nvPicPr>
          <p:cNvPr id="13" name="Picture 12">
            <a:extLst>
              <a:ext uri="{FF2B5EF4-FFF2-40B4-BE49-F238E27FC236}">
                <a16:creationId xmlns:a16="http://schemas.microsoft.com/office/drawing/2014/main" id="{75CE0283-46B0-6EB7-140A-46D7D6AD97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3900" y="2823989"/>
            <a:ext cx="8610600" cy="4748023"/>
          </a:xfrm>
          <a:prstGeom prst="rect">
            <a:avLst/>
          </a:prstGeom>
        </p:spPr>
      </p:pic>
      <p:pic>
        <p:nvPicPr>
          <p:cNvPr id="14" name="object 3">
            <a:extLst>
              <a:ext uri="{FF2B5EF4-FFF2-40B4-BE49-F238E27FC236}">
                <a16:creationId xmlns:a16="http://schemas.microsoft.com/office/drawing/2014/main" id="{BD83F867-DF27-C57B-2AD0-3DD923F3FF2F}"/>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1E3D888D-7060-4B16-AD7E-D4FCEF5B7DD4}"/>
              </a:ext>
            </a:extLst>
          </p:cNvPr>
          <p:cNvSpPr txBox="1"/>
          <p:nvPr/>
        </p:nvSpPr>
        <p:spPr>
          <a:xfrm>
            <a:off x="700101" y="1939951"/>
            <a:ext cx="8443337" cy="646331"/>
          </a:xfrm>
          <a:prstGeom prst="rect">
            <a:avLst/>
          </a:prstGeom>
          <a:noFill/>
        </p:spPr>
        <p:txBody>
          <a:bodyPr wrap="none" rtlCol="0">
            <a:spAutoFit/>
          </a:bodyPr>
          <a:lstStyle/>
          <a:p>
            <a:r>
              <a:rPr lang="en-US" dirty="0"/>
              <a:t>This module allows a student to apply for the revaluation for a select subject and </a:t>
            </a:r>
          </a:p>
          <a:p>
            <a:r>
              <a:rPr lang="en-US" dirty="0"/>
              <a:t>Allows the user to pay revaluation fee online.</a:t>
            </a:r>
            <a:endParaRPr lang="en-IN" dirty="0"/>
          </a:p>
        </p:txBody>
      </p:sp>
    </p:spTree>
    <p:extLst>
      <p:ext uri="{BB962C8B-B14F-4D97-AF65-F5344CB8AC3E}">
        <p14:creationId xmlns:p14="http://schemas.microsoft.com/office/powerpoint/2010/main" val="486649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EEC262CC-23E5-4E4D-D361-E7CA2F447F48}"/>
              </a:ext>
            </a:extLst>
          </p:cNvPr>
          <p:cNvGrpSpPr/>
          <p:nvPr/>
        </p:nvGrpSpPr>
        <p:grpSpPr>
          <a:xfrm>
            <a:off x="2590800" y="161097"/>
            <a:ext cx="5103904" cy="1198311"/>
            <a:chOff x="2648188" y="47148"/>
            <a:chExt cx="5103904" cy="1198311"/>
          </a:xfrm>
        </p:grpSpPr>
        <p:pic>
          <p:nvPicPr>
            <p:cNvPr id="5" name="object 4">
              <a:extLst>
                <a:ext uri="{FF2B5EF4-FFF2-40B4-BE49-F238E27FC236}">
                  <a16:creationId xmlns:a16="http://schemas.microsoft.com/office/drawing/2014/main" id="{177F8F15-7192-62A4-AFF2-7BE5F760B582}"/>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330E04DA-EA6B-E103-8B22-39A02F943D7B}"/>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29EDFF53-767D-45F9-5C86-5BFFC66AA056}"/>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82F22FFF-AC80-ACE7-F428-1CEBF934AAE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a:extLst>
              <a:ext uri="{FF2B5EF4-FFF2-40B4-BE49-F238E27FC236}">
                <a16:creationId xmlns:a16="http://schemas.microsoft.com/office/drawing/2014/main" id="{0A317D05-8D73-5367-3351-401687A15511}"/>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sp>
        <p:nvSpPr>
          <p:cNvPr id="10" name="TextBox 9">
            <a:extLst>
              <a:ext uri="{FF2B5EF4-FFF2-40B4-BE49-F238E27FC236}">
                <a16:creationId xmlns:a16="http://schemas.microsoft.com/office/drawing/2014/main" id="{1E2B0AA8-0AE7-F33B-DC48-611445A9F19D}"/>
              </a:ext>
            </a:extLst>
          </p:cNvPr>
          <p:cNvSpPr txBox="1"/>
          <p:nvPr/>
        </p:nvSpPr>
        <p:spPr>
          <a:xfrm>
            <a:off x="304800" y="1359408"/>
            <a:ext cx="3900427"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Revaluation Status Module </a:t>
            </a:r>
            <a:r>
              <a:rPr lang="en-US" dirty="0"/>
              <a:t>:</a:t>
            </a:r>
            <a:endParaRPr lang="en-IN" dirty="0"/>
          </a:p>
        </p:txBody>
      </p:sp>
      <p:pic>
        <p:nvPicPr>
          <p:cNvPr id="12" name="Picture 11">
            <a:extLst>
              <a:ext uri="{FF2B5EF4-FFF2-40B4-BE49-F238E27FC236}">
                <a16:creationId xmlns:a16="http://schemas.microsoft.com/office/drawing/2014/main" id="{FC7B2915-2A6C-FB42-CD4B-3B3C730D0A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2000" y="3091102"/>
            <a:ext cx="8534400" cy="3889601"/>
          </a:xfrm>
          <a:prstGeom prst="rect">
            <a:avLst/>
          </a:prstGeom>
        </p:spPr>
      </p:pic>
      <p:pic>
        <p:nvPicPr>
          <p:cNvPr id="13" name="object 3">
            <a:extLst>
              <a:ext uri="{FF2B5EF4-FFF2-40B4-BE49-F238E27FC236}">
                <a16:creationId xmlns:a16="http://schemas.microsoft.com/office/drawing/2014/main" id="{B05135C9-63A4-5F38-44BF-39307ED289CE}"/>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486BD3A8-EE33-4ACB-2D89-A614F410A9B6}"/>
              </a:ext>
            </a:extLst>
          </p:cNvPr>
          <p:cNvSpPr txBox="1"/>
          <p:nvPr/>
        </p:nvSpPr>
        <p:spPr>
          <a:xfrm>
            <a:off x="817756" y="2090167"/>
            <a:ext cx="8699818" cy="646331"/>
          </a:xfrm>
          <a:prstGeom prst="rect">
            <a:avLst/>
          </a:prstGeom>
          <a:noFill/>
        </p:spPr>
        <p:txBody>
          <a:bodyPr wrap="none" rtlCol="0">
            <a:spAutoFit/>
          </a:bodyPr>
          <a:lstStyle/>
          <a:p>
            <a:r>
              <a:rPr lang="en-US" dirty="0"/>
              <a:t>This module allows a user( Student) to check the status of the revaluation requests </a:t>
            </a:r>
          </a:p>
          <a:p>
            <a:r>
              <a:rPr lang="en-US" dirty="0"/>
              <a:t> they have applied</a:t>
            </a:r>
            <a:endParaRPr lang="en-IN" dirty="0"/>
          </a:p>
        </p:txBody>
      </p:sp>
    </p:spTree>
    <p:extLst>
      <p:ext uri="{BB962C8B-B14F-4D97-AF65-F5344CB8AC3E}">
        <p14:creationId xmlns:p14="http://schemas.microsoft.com/office/powerpoint/2010/main" val="99218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E93131E-D2BB-EC5C-2A95-924FDF20D02E}"/>
              </a:ext>
            </a:extLst>
          </p:cNvPr>
          <p:cNvSpPr txBox="1"/>
          <p:nvPr/>
        </p:nvSpPr>
        <p:spPr>
          <a:xfrm>
            <a:off x="381000" y="1041442"/>
            <a:ext cx="9448800" cy="6786473"/>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The Student Management System developed in this project provides basic functionalities for managing student’s result records. However, the system can be further enhanced by adding advanced features to improve its functionality and usability.</a:t>
            </a:r>
          </a:p>
          <a:p>
            <a:pPr>
              <a:lnSpc>
                <a:spcPct val="150000"/>
              </a:lnSpc>
            </a:pPr>
            <a:r>
              <a:rPr lang="en-IN" dirty="0">
                <a:latin typeface="Times New Roman" panose="02020603050405020304" pitchFamily="18" charset="0"/>
                <a:cs typeface="Times New Roman" panose="02020603050405020304" pitchFamily="18" charset="0"/>
              </a:rPr>
              <a:t>Some possible future enhancements include:</a:t>
            </a:r>
          </a:p>
          <a:p>
            <a:pPr lvl="0">
              <a:lnSpc>
                <a:spcPct val="150000"/>
              </a:lnSpc>
            </a:pPr>
            <a:r>
              <a:rPr lang="en-IN" sz="2000" b="1" dirty="0">
                <a:latin typeface="Times New Roman" panose="02020603050405020304" pitchFamily="18" charset="0"/>
                <a:cs typeface="Times New Roman" panose="02020603050405020304" pitchFamily="18" charset="0"/>
              </a:rPr>
              <a:t>Student Attendance Management:</a:t>
            </a:r>
            <a:endParaRPr lang="en-IN" sz="2000"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Integrating attendance tracking and presence percentage management</a:t>
            </a:r>
          </a:p>
          <a:p>
            <a:pPr lvl="0">
              <a:lnSpc>
                <a:spcPct val="150000"/>
              </a:lnSpc>
            </a:pPr>
            <a:r>
              <a:rPr lang="en-IN" sz="2000" b="1" dirty="0">
                <a:latin typeface="Times New Roman" panose="02020603050405020304" pitchFamily="18" charset="0"/>
                <a:cs typeface="Times New Roman" panose="02020603050405020304" pitchFamily="18" charset="0"/>
              </a:rPr>
              <a:t>Web-Based Application:</a:t>
            </a:r>
            <a:endParaRPr lang="en-IN" sz="2000"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Converting the desktop application into a web-based system for remote access</a:t>
            </a:r>
          </a:p>
          <a:p>
            <a:pPr lvl="0">
              <a:lnSpc>
                <a:spcPct val="150000"/>
              </a:lnSpc>
            </a:pPr>
            <a:r>
              <a:rPr lang="en-IN" sz="2000" b="1" dirty="0">
                <a:latin typeface="Times New Roman" panose="02020603050405020304" pitchFamily="18" charset="0"/>
                <a:cs typeface="Times New Roman" panose="02020603050405020304" pitchFamily="18" charset="0"/>
              </a:rPr>
              <a:t>Multi-Admin Login Support:</a:t>
            </a:r>
            <a:endParaRPr lang="en-IN" sz="2000"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Allowing multiple users to access the system simultaneously</a:t>
            </a:r>
          </a:p>
          <a:p>
            <a:pPr lvl="0">
              <a:lnSpc>
                <a:spcPct val="150000"/>
              </a:lnSpc>
            </a:pPr>
            <a:r>
              <a:rPr lang="en-IN" sz="2000" b="1" dirty="0">
                <a:latin typeface="Times New Roman" panose="02020603050405020304" pitchFamily="18" charset="0"/>
                <a:cs typeface="Times New Roman" panose="02020603050405020304" pitchFamily="18" charset="0"/>
              </a:rPr>
              <a:t>Sending Results via Email:</a:t>
            </a:r>
            <a:endParaRPr lang="en-IN" sz="2000"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Without the hassle of downloading from the website, student can directly get the results sent to their emails.</a:t>
            </a:r>
          </a:p>
          <a:p>
            <a:pPr>
              <a:lnSpc>
                <a:spcPct val="150000"/>
              </a:lnSpc>
            </a:pPr>
            <a:r>
              <a:rPr lang="en-IN" dirty="0">
                <a:latin typeface="Times New Roman" panose="02020603050405020304" pitchFamily="18" charset="0"/>
                <a:cs typeface="Times New Roman" panose="02020603050405020304" pitchFamily="18" charset="0"/>
              </a:rPr>
              <a:t>These enhancements can make the system more scalable, secure, and suitable for real-time organizational use.</a:t>
            </a:r>
          </a:p>
          <a:p>
            <a:r>
              <a:rPr lang="en-IN" sz="1800" dirty="0"/>
              <a:t> </a:t>
            </a:r>
          </a:p>
        </p:txBody>
      </p:sp>
      <p:grpSp>
        <p:nvGrpSpPr>
          <p:cNvPr id="7" name="object 3">
            <a:extLst>
              <a:ext uri="{FF2B5EF4-FFF2-40B4-BE49-F238E27FC236}">
                <a16:creationId xmlns:a16="http://schemas.microsoft.com/office/drawing/2014/main" id="{2AA4C980-B3A7-207C-41C1-E5E20AC1774F}"/>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2187896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2E41-7E6E-9AB7-4311-D58503EE45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376381-AD7A-228D-6305-1256490B7F5E}"/>
              </a:ext>
            </a:extLst>
          </p:cNvPr>
          <p:cNvSpPr txBox="1"/>
          <p:nvPr/>
        </p:nvSpPr>
        <p:spPr>
          <a:xfrm>
            <a:off x="304800" y="1034052"/>
            <a:ext cx="9448800" cy="7144969"/>
          </a:xfrm>
          <a:prstGeom prst="rect">
            <a:avLst/>
          </a:prstGeom>
          <a:noFill/>
        </p:spPr>
        <p:txBody>
          <a:bodyPr wrap="square" rtlCol="0">
            <a:spAutoFit/>
          </a:bodyPr>
          <a:lstStyle/>
          <a:p>
            <a:pPr>
              <a:lnSpc>
                <a:spcPct val="150000"/>
              </a:lnSpc>
            </a:pPr>
            <a:r>
              <a:rPr lang="en-IN" sz="1800" dirty="0">
                <a:latin typeface="Times New Roman" panose="02020603050405020304" pitchFamily="18" charset="0"/>
                <a:cs typeface="Times New Roman" panose="02020603050405020304" pitchFamily="18" charset="0"/>
              </a:rPr>
              <a:t>The following references were used during the development of the Student Result Management System:</a:t>
            </a:r>
          </a:p>
          <a:p>
            <a:pPr lvl="0">
              <a:lnSpc>
                <a:spcPct val="150000"/>
              </a:lnSpc>
            </a:pPr>
            <a:r>
              <a:rPr lang="en-IN" sz="1800" b="1" dirty="0">
                <a:latin typeface="Times New Roman" panose="02020603050405020304" pitchFamily="18" charset="0"/>
                <a:cs typeface="Times New Roman" panose="02020603050405020304" pitchFamily="18" charset="0"/>
              </a:rPr>
              <a:t>E. </a:t>
            </a:r>
            <a:r>
              <a:rPr lang="en-IN" sz="1800" b="1" dirty="0" err="1">
                <a:latin typeface="Times New Roman" panose="02020603050405020304" pitchFamily="18" charset="0"/>
                <a:cs typeface="Times New Roman" panose="02020603050405020304" pitchFamily="18" charset="0"/>
              </a:rPr>
              <a:t>Balagurusamy</a:t>
            </a:r>
            <a:r>
              <a:rPr lang="en-IN" sz="1800" dirty="0">
                <a:latin typeface="Times New Roman" panose="02020603050405020304" pitchFamily="18" charset="0"/>
                <a:cs typeface="Times New Roman" panose="02020603050405020304" pitchFamily="18" charset="0"/>
              </a:rPr>
              <a:t>, Programming with Java, McGraw Hill Education.</a:t>
            </a:r>
          </a:p>
          <a:p>
            <a:pPr lvl="0">
              <a:lnSpc>
                <a:spcPct val="150000"/>
              </a:lnSpc>
            </a:pPr>
            <a:r>
              <a:rPr lang="en-IN" sz="1800" b="1" dirty="0">
                <a:latin typeface="Times New Roman" panose="02020603050405020304" pitchFamily="18" charset="0"/>
                <a:cs typeface="Times New Roman" panose="02020603050405020304" pitchFamily="18" charset="0"/>
              </a:rPr>
              <a:t>Korth, Silberschatz, Sudarshan</a:t>
            </a:r>
            <a:r>
              <a:rPr lang="en-IN" sz="1800" dirty="0">
                <a:latin typeface="Times New Roman" panose="02020603050405020304" pitchFamily="18" charset="0"/>
                <a:cs typeface="Times New Roman" panose="02020603050405020304" pitchFamily="18" charset="0"/>
              </a:rPr>
              <a:t>, Database System Concepts, McGraw Hill.</a:t>
            </a:r>
          </a:p>
          <a:p>
            <a:pPr lvl="0">
              <a:lnSpc>
                <a:spcPct val="150000"/>
              </a:lnSpc>
            </a:pPr>
            <a:r>
              <a:rPr lang="en-IN" sz="1800" b="1" dirty="0">
                <a:latin typeface="Times New Roman" panose="02020603050405020304" pitchFamily="18" charset="0"/>
                <a:cs typeface="Times New Roman" panose="02020603050405020304" pitchFamily="18" charset="0"/>
              </a:rPr>
              <a:t>MySQL Documentation</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u="sng" dirty="0">
                <a:latin typeface="Times New Roman" panose="02020603050405020304" pitchFamily="18" charset="0"/>
                <a:cs typeface="Times New Roman" panose="02020603050405020304" pitchFamily="18" charset="0"/>
                <a:hlinkClick r:id="rId2"/>
              </a:rPr>
              <a:t>https://docs.mysql.com</a:t>
            </a:r>
            <a:endParaRPr lang="en-IN" sz="1800" dirty="0">
              <a:latin typeface="Times New Roman" panose="02020603050405020304" pitchFamily="18" charset="0"/>
              <a:cs typeface="Times New Roman" panose="02020603050405020304" pitchFamily="18" charset="0"/>
            </a:endParaRPr>
          </a:p>
          <a:p>
            <a:pPr lvl="0">
              <a:lnSpc>
                <a:spcPct val="150000"/>
              </a:lnSpc>
            </a:pPr>
            <a:r>
              <a:rPr lang="en-IN" sz="1800" b="1" dirty="0">
                <a:latin typeface="Times New Roman" panose="02020603050405020304" pitchFamily="18" charset="0"/>
                <a:cs typeface="Times New Roman" panose="02020603050405020304" pitchFamily="18" charset="0"/>
              </a:rPr>
              <a:t>Java Documentation (MySQL)</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u="sng" dirty="0">
                <a:latin typeface="Times New Roman" panose="02020603050405020304" pitchFamily="18" charset="0"/>
                <a:cs typeface="Times New Roman" panose="02020603050405020304" pitchFamily="18" charset="0"/>
                <a:hlinkClick r:id="rId3"/>
              </a:rPr>
              <a:t>https://docs.mysql.com/javase</a:t>
            </a:r>
            <a:endParaRPr lang="en-IN" sz="1800" dirty="0">
              <a:latin typeface="Times New Roman" panose="02020603050405020304" pitchFamily="18" charset="0"/>
              <a:cs typeface="Times New Roman" panose="02020603050405020304" pitchFamily="18" charset="0"/>
            </a:endParaRPr>
          </a:p>
          <a:p>
            <a:pPr lvl="0">
              <a:lnSpc>
                <a:spcPct val="150000"/>
              </a:lnSpc>
            </a:pPr>
            <a:r>
              <a:rPr lang="en-IN" sz="1800" b="1" dirty="0">
                <a:latin typeface="Times New Roman" panose="02020603050405020304" pitchFamily="18" charset="0"/>
                <a:cs typeface="Times New Roman" panose="02020603050405020304" pitchFamily="18" charset="0"/>
              </a:rPr>
              <a:t>JDBC Tutorial – </a:t>
            </a:r>
            <a:r>
              <a:rPr lang="en-IN" sz="1800" b="1" dirty="0" err="1">
                <a:latin typeface="Times New Roman" panose="02020603050405020304" pitchFamily="18" charset="0"/>
                <a:cs typeface="Times New Roman" panose="02020603050405020304" pitchFamily="18" charset="0"/>
              </a:rPr>
              <a:t>GeeksforGeeks</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https://www.geeksforgeeks.org/jdbc/</a:t>
            </a:r>
          </a:p>
          <a:p>
            <a:pPr lvl="0">
              <a:lnSpc>
                <a:spcPct val="150000"/>
              </a:lnSpc>
            </a:pPr>
            <a:r>
              <a:rPr lang="en-IN" sz="1800" b="1" dirty="0">
                <a:latin typeface="Times New Roman" panose="02020603050405020304" pitchFamily="18" charset="0"/>
                <a:cs typeface="Times New Roman" panose="02020603050405020304" pitchFamily="18" charset="0"/>
              </a:rPr>
              <a:t>Java Swing Tutorial – </a:t>
            </a:r>
            <a:r>
              <a:rPr lang="en-IN" sz="1800" b="1" dirty="0" err="1">
                <a:latin typeface="Times New Roman" panose="02020603050405020304" pitchFamily="18" charset="0"/>
                <a:cs typeface="Times New Roman" panose="02020603050405020304" pitchFamily="18" charset="0"/>
              </a:rPr>
              <a:t>TutorialsPoint</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https://www.tutorialspoint.com/java_swing</a:t>
            </a:r>
          </a:p>
          <a:p>
            <a:pPr lvl="0">
              <a:lnSpc>
                <a:spcPct val="150000"/>
              </a:lnSpc>
            </a:pPr>
            <a:r>
              <a:rPr lang="en-IN" sz="1800" b="1" dirty="0">
                <a:latin typeface="Times New Roman" panose="02020603050405020304" pitchFamily="18" charset="0"/>
                <a:cs typeface="Times New Roman" panose="02020603050405020304" pitchFamily="18" charset="0"/>
              </a:rPr>
              <a:t>W3Schools Java Tutorial</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u="sng" dirty="0">
                <a:latin typeface="Times New Roman" panose="02020603050405020304" pitchFamily="18" charset="0"/>
                <a:cs typeface="Times New Roman" panose="02020603050405020304" pitchFamily="18" charset="0"/>
                <a:hlinkClick r:id="rId4"/>
              </a:rPr>
              <a:t>https://www.w3schools.com/java/</a:t>
            </a:r>
            <a:endParaRPr lang="en-IN" sz="1800" dirty="0">
              <a:latin typeface="Times New Roman" panose="02020603050405020304" pitchFamily="18" charset="0"/>
              <a:cs typeface="Times New Roman" panose="02020603050405020304" pitchFamily="18" charset="0"/>
            </a:endParaRPr>
          </a:p>
          <a:p>
            <a:pPr lvl="0">
              <a:lnSpc>
                <a:spcPct val="150000"/>
              </a:lnSpc>
            </a:pPr>
            <a:r>
              <a:rPr lang="en-IN" sz="1800" b="1" dirty="0" err="1">
                <a:latin typeface="Times New Roman" panose="02020603050405020304" pitchFamily="18" charset="0"/>
                <a:cs typeface="Times New Roman" panose="02020603050405020304" pitchFamily="18" charset="0"/>
              </a:rPr>
              <a:t>iText</a:t>
            </a:r>
            <a:r>
              <a:rPr lang="en-IN" sz="1800" b="1" dirty="0">
                <a:latin typeface="Times New Roman" panose="02020603050405020304" pitchFamily="18" charset="0"/>
                <a:cs typeface="Times New Roman" panose="02020603050405020304" pitchFamily="18" charset="0"/>
              </a:rPr>
              <a:t> PDF Documentation</a:t>
            </a:r>
            <a:endParaRPr lang="en-IN" sz="1800" dirty="0">
              <a:latin typeface="Times New Roman" panose="02020603050405020304" pitchFamily="18" charset="0"/>
              <a:cs typeface="Times New Roman" panose="02020603050405020304" pitchFamily="18" charset="0"/>
            </a:endParaRPr>
          </a:p>
          <a:p>
            <a:pPr>
              <a:lnSpc>
                <a:spcPct val="150000"/>
              </a:lnSpc>
            </a:pPr>
            <a:r>
              <a:rPr lang="en-IN" sz="1800" u="sng" dirty="0">
                <a:latin typeface="Times New Roman" panose="02020603050405020304" pitchFamily="18" charset="0"/>
                <a:cs typeface="Times New Roman" panose="02020603050405020304" pitchFamily="18" charset="0"/>
                <a:hlinkClick r:id="rId5"/>
              </a:rPr>
              <a:t>https://itextpdf..com/resources/api-documentation</a:t>
            </a:r>
            <a:endParaRPr lang="en-IN" sz="1800" dirty="0">
              <a:latin typeface="Times New Roman" panose="02020603050405020304" pitchFamily="18" charset="0"/>
              <a:cs typeface="Times New Roman" panose="02020603050405020304" pitchFamily="18" charset="0"/>
            </a:endParaRPr>
          </a:p>
          <a:p>
            <a:pPr algn="just">
              <a:lnSpc>
                <a:spcPct val="150000"/>
              </a:lnSpc>
            </a:pPr>
            <a:endParaRPr lang="en-IN" sz="2000" dirty="0"/>
          </a:p>
        </p:txBody>
      </p:sp>
      <p:grpSp>
        <p:nvGrpSpPr>
          <p:cNvPr id="7" name="object 3">
            <a:extLst>
              <a:ext uri="{FF2B5EF4-FFF2-40B4-BE49-F238E27FC236}">
                <a16:creationId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897A887-118D-142E-FC3E-D6BE5C1E9795}"/>
                </a:ext>
              </a:extLst>
            </p:cNvPr>
            <p:cNvPicPr/>
            <p:nvPr/>
          </p:nvPicPr>
          <p:blipFill>
            <a:blip r:embed="rId6"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69A73B6-BAAC-6763-2263-E88C0E65C7C3}"/>
                </a:ext>
              </a:extLst>
            </p:cNvPr>
            <p:cNvPicPr/>
            <p:nvPr/>
          </p:nvPicPr>
          <p:blipFill>
            <a:blip r:embed="rId7"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12E086F-BA20-7EBA-DFAA-D7884D2F86C0}"/>
                </a:ext>
              </a:extLst>
            </p:cNvPr>
            <p:cNvPicPr/>
            <p:nvPr/>
          </p:nvPicPr>
          <p:blipFill>
            <a:blip r:embed="rId8"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a16="http://schemas.microsoft.com/office/drawing/2014/main" id="{6E0266AA-A7A6-E24C-77B4-437EA2766279}"/>
              </a:ext>
            </a:extLst>
          </p:cNvPr>
          <p:cNvPicPr/>
          <p:nvPr/>
        </p:nvPicPr>
        <p:blipFill>
          <a:blip r:embed="rId9"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182020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631902" y="1283970"/>
            <a:ext cx="8588298" cy="4236481"/>
          </a:xfrm>
          <a:prstGeom prst="rect">
            <a:avLst/>
          </a:prstGeom>
          <a:noFill/>
        </p:spPr>
        <p:txBody>
          <a:bodyPr wrap="square" rtlCol="0">
            <a:spAutoFit/>
          </a:bodyPr>
          <a:lstStyle/>
          <a:p>
            <a:pPr>
              <a:lnSpc>
                <a:spcPct val="150000"/>
              </a:lnSpc>
            </a:pPr>
            <a:r>
              <a:rPr lang="en-IN" sz="1800" dirty="0"/>
              <a:t>The Student Result Management System was successfully developed using </a:t>
            </a:r>
            <a:r>
              <a:rPr lang="en-IN" sz="1800" b="1" dirty="0"/>
              <a:t>Java Swing </a:t>
            </a:r>
            <a:r>
              <a:rPr lang="en-IN" sz="1800" dirty="0"/>
              <a:t>and </a:t>
            </a:r>
            <a:r>
              <a:rPr lang="en-IN" sz="1800" b="1" dirty="0"/>
              <a:t>MySQL</a:t>
            </a:r>
            <a:r>
              <a:rPr lang="en-IN" sz="1800" dirty="0"/>
              <a:t> database.</a:t>
            </a:r>
          </a:p>
          <a:p>
            <a:pPr>
              <a:lnSpc>
                <a:spcPct val="150000"/>
              </a:lnSpc>
            </a:pPr>
            <a:r>
              <a:rPr lang="en-IN" sz="1800" dirty="0"/>
              <a:t>The system provides a simple and efficient way to manage student results digitally. It reduces manual work, improves accuracy, and allows quick access to student results.</a:t>
            </a:r>
          </a:p>
          <a:p>
            <a:pPr marL="285750" indent="-285750">
              <a:lnSpc>
                <a:spcPct val="150000"/>
              </a:lnSpc>
              <a:buFont typeface="Arial" panose="020B0604020202020204" pitchFamily="34" charset="0"/>
              <a:buChar char="•"/>
            </a:pPr>
            <a:r>
              <a:rPr lang="en-IN" sz="1800" dirty="0"/>
              <a:t>The system includes important features such as admin login, student login, result management, automatic result calculation, and PDF report generation.</a:t>
            </a:r>
          </a:p>
          <a:p>
            <a:pPr marL="285750" indent="-285750">
              <a:lnSpc>
                <a:spcPct val="150000"/>
              </a:lnSpc>
              <a:buFont typeface="Arial" panose="020B0604020202020204" pitchFamily="34" charset="0"/>
              <a:buChar char="•"/>
            </a:pPr>
            <a:r>
              <a:rPr lang="en-IN" sz="1800" dirty="0"/>
              <a:t>The project demonstrates how Java can be used to develop real-world desktop applications with database connectivity.</a:t>
            </a:r>
          </a:p>
          <a:p>
            <a:pPr marL="342900" indent="-342900" algn="just">
              <a:lnSpc>
                <a:spcPct val="150000"/>
              </a:lnSpc>
              <a:buFont typeface="Arial" panose="020B0604020202020204" pitchFamily="34" charset="0"/>
              <a:buChar char="•"/>
            </a:pPr>
            <a:endParaRPr lang="en-US" sz="2000" dirty="0"/>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3559</TotalTime>
  <Words>1733</Words>
  <Application>Microsoft Office PowerPoint</Application>
  <PresentationFormat>Custom</PresentationFormat>
  <Paragraphs>375</Paragraphs>
  <Slides>31</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Cambria</vt:lpstr>
      <vt:lpstr>Palatino Linotype</vt:lpstr>
      <vt:lpstr>Times New Roman</vt:lpstr>
      <vt:lpstr>Office Theme</vt:lpstr>
      <vt:lpstr>Java Programming Cornerstone Project Final Review</vt:lpstr>
      <vt:lpstr>PowerPoint Presentation</vt:lpstr>
      <vt:lpstr>ABSTRACT</vt:lpstr>
      <vt:lpstr>PowerPoint Presentation</vt:lpstr>
      <vt:lpstr>PowerPoint Presentation</vt:lpstr>
      <vt:lpstr>PowerPoint Presentation</vt:lpstr>
      <vt:lpstr>Database Design</vt:lpstr>
      <vt:lpstr>Database Design</vt:lpstr>
      <vt:lpstr>Database Design</vt:lpstr>
      <vt:lpstr>Database Design</vt:lpstr>
      <vt:lpstr>Database Design</vt:lpstr>
      <vt:lpstr>DataBase Design</vt:lpstr>
      <vt:lpstr>Database Design</vt:lpstr>
      <vt:lpstr>SYSTEM DESIGN</vt:lpstr>
      <vt:lpstr>System Implementation</vt:lpstr>
      <vt:lpstr>PowerPoint Presentation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System Implementation</vt:lpstr>
      <vt:lpstr>Future Enhancements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srisamhitharayudu@outlook.com</cp:lastModifiedBy>
  <cp:revision>55</cp:revision>
  <cp:lastPrinted>2025-10-14T18:21:49Z</cp:lastPrinted>
  <dcterms:created xsi:type="dcterms:W3CDTF">2025-10-10T08:28:06Z</dcterms:created>
  <dcterms:modified xsi:type="dcterms:W3CDTF">2026-04-07T02:39:10Z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